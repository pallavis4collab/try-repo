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4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82041" autoAdjust="0"/>
  </p:normalViewPr>
  <p:slideViewPr>
    <p:cSldViewPr snapToGrid="0">
      <p:cViewPr varScale="1">
        <p:scale>
          <a:sx n="54" d="100"/>
          <a:sy n="54" d="100"/>
        </p:scale>
        <p:origin x="1172" y="52"/>
      </p:cViewPr>
      <p:guideLst/>
    </p:cSldViewPr>
  </p:slideViewPr>
  <p:outlineViewPr>
    <p:cViewPr>
      <p:scale>
        <a:sx n="33" d="100"/>
        <a:sy n="33" d="100"/>
      </p:scale>
      <p:origin x="0" y="-2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KET\Desktop\repor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[report.xlsx]Sheet2!PivotTable2</c:name>
    <c:fmtId val="12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Sheet2!$B$50</c:f>
              <c:strCache>
                <c:ptCount val="1"/>
                <c:pt idx="0">
                  <c:v>Sum of MO QTY KG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B26-4D1F-ADC1-4C80E91B388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B26-4D1F-ADC1-4C80E91B388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B26-4D1F-ADC1-4C80E91B388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B26-4D1F-ADC1-4C80E91B388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AB26-4D1F-ADC1-4C80E91B38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Sheet2!$A$51:$A$55</c:f>
              <c:strCache>
                <c:ptCount val="4"/>
                <c:pt idx="0">
                  <c:v>dyeing</c:v>
                </c:pt>
                <c:pt idx="1">
                  <c:v>knitting</c:v>
                </c:pt>
                <c:pt idx="2">
                  <c:v>finishing</c:v>
                </c:pt>
                <c:pt idx="3">
                  <c:v>Printing</c:v>
                </c:pt>
              </c:strCache>
            </c:strRef>
          </c:cat>
          <c:val>
            <c:numRef>
              <c:f>Sheet2!$B$51:$B$55</c:f>
              <c:numCache>
                <c:formatCode>0</c:formatCode>
                <c:ptCount val="4"/>
                <c:pt idx="0">
                  <c:v>33378.5</c:v>
                </c:pt>
                <c:pt idx="1">
                  <c:v>12380.5</c:v>
                </c:pt>
                <c:pt idx="2">
                  <c:v>12126</c:v>
                </c:pt>
                <c:pt idx="3">
                  <c:v>7485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26-4D1F-ADC1-4C80E91B3884}"/>
            </c:ext>
          </c:extLst>
        </c:ser>
        <c:ser>
          <c:idx val="1"/>
          <c:order val="1"/>
          <c:tx>
            <c:strRef>
              <c:f>Sheet2!$C$50</c:f>
              <c:strCache>
                <c:ptCount val="1"/>
                <c:pt idx="0">
                  <c:v>Sum of MO QTY MTR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AB26-4D1F-ADC1-4C80E91B388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AB26-4D1F-ADC1-4C80E91B388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AB26-4D1F-ADC1-4C80E91B388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AB26-4D1F-ADC1-4C80E91B388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AB26-4D1F-ADC1-4C80E91B38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Sheet2!$A$51:$A$55</c:f>
              <c:strCache>
                <c:ptCount val="4"/>
                <c:pt idx="0">
                  <c:v>dyeing</c:v>
                </c:pt>
                <c:pt idx="1">
                  <c:v>knitting</c:v>
                </c:pt>
                <c:pt idx="2">
                  <c:v>finishing</c:v>
                </c:pt>
                <c:pt idx="3">
                  <c:v>Printing</c:v>
                </c:pt>
              </c:strCache>
            </c:strRef>
          </c:cat>
          <c:val>
            <c:numRef>
              <c:f>Sheet2!$C$51:$C$55</c:f>
              <c:numCache>
                <c:formatCode>0</c:formatCode>
                <c:ptCount val="4"/>
                <c:pt idx="0">
                  <c:v>118701.87500000006</c:v>
                </c:pt>
                <c:pt idx="1">
                  <c:v>49203.930000000008</c:v>
                </c:pt>
                <c:pt idx="2">
                  <c:v>44802.374999999993</c:v>
                </c:pt>
                <c:pt idx="3">
                  <c:v>29384.37999999999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AB26-4D1F-ADC1-4C80E91B388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964049152760808"/>
          <c:y val="0.53624204388658925"/>
          <c:w val="0.12685262429223096"/>
          <c:h val="0.442914106000453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/>
              <a:t>reprocess</a:t>
            </a:r>
            <a:r>
              <a:rPr lang="en-IN" sz="1800" baseline="0"/>
              <a:t> due to dyeing</a:t>
            </a:r>
            <a:endParaRPr lang="en-IN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17345552053288"/>
          <c:y val="0.17651576441031006"/>
          <c:w val="0.5633308587585748"/>
          <c:h val="0.81973575896173689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38C-4CD0-A69C-3C81A549AB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38C-4CD0-A69C-3C81A549ABB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38C-4CD0-A69C-3C81A549ABBF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baseline="0">
                        <a:solidFill>
                          <a:schemeClr val="tx1"/>
                        </a:solidFill>
                      </a:rPr>
                      <a:t> </a:t>
                    </a:r>
                    <a:fld id="{20D698F3-5E47-4EBA-ADAA-B373C1599440}" type="PERCENTAGE">
                      <a:rPr lang="en-US" sz="1400" baseline="0">
                        <a:solidFill>
                          <a:schemeClr val="tx1"/>
                        </a:solidFill>
                      </a:rPr>
                      <a:pPr>
                        <a:defRPr sz="1400"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en-US" sz="1400" baseline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8C-4CD0-A69C-3C81A549ABBF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baseline="0"/>
                      <a:t> </a:t>
                    </a:r>
                    <a:fld id="{9303B641-AC04-4EDE-A50F-F40EB952E916}" type="PERCENTAGE">
                      <a:rPr lang="en-US" sz="1400" baseline="0"/>
                      <a:pPr>
                        <a:defRPr sz="1400"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en-US" sz="14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8C-4CD0-A69C-3C81A549ABBF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6AC19CB-E566-4B15-946F-EF4918D02980}" type="PERCENTAGE">
                      <a:rPr lang="en-US" sz="1400" baseline="0"/>
                      <a:pPr>
                        <a:defRPr sz="1400"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438C-4CD0-A69C-3C81A549AB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Sheet2!$C$1266:$C$1268</c:f>
              <c:strCache>
                <c:ptCount val="3"/>
                <c:pt idx="0">
                  <c:v>AF COLOR REJECT</c:v>
                </c:pt>
                <c:pt idx="1">
                  <c:v>ABRATION MARK  </c:v>
                </c:pt>
                <c:pt idx="2">
                  <c:v>R2R VARATION   </c:v>
                </c:pt>
              </c:strCache>
            </c:strRef>
          </c:cat>
          <c:val>
            <c:numRef>
              <c:f>Sheet2!$D$1266:$D$1268</c:f>
              <c:numCache>
                <c:formatCode>General</c:formatCode>
                <c:ptCount val="3"/>
                <c:pt idx="0">
                  <c:v>10804</c:v>
                </c:pt>
                <c:pt idx="1">
                  <c:v>10497</c:v>
                </c:pt>
                <c:pt idx="2">
                  <c:v>4836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8C-4CD0-A69C-3C81A549ABB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Sheet2!$F$677</c:f>
              <c:strCache>
                <c:ptCount val="1"/>
                <c:pt idx="0">
                  <c:v>KGS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Sheet2!$E$678:$E$717</c:f>
              <c:strCache>
                <c:ptCount val="40"/>
                <c:pt idx="0">
                  <c:v>SJ 40S/1 SUP + 30D DYEABLE SPN</c:v>
                </c:pt>
                <c:pt idx="1">
                  <c:v>SJ 40S/1 SUPIMA  CTN (AMBIKA) + 30D DYEABLE SPN</c:v>
                </c:pt>
                <c:pt idx="2">
                  <c:v>SINGLE JERSEY 30S/1 100% SUPIMA CTN</c:v>
                </c:pt>
                <c:pt idx="3">
                  <c:v>SJ 40S/1 BCI SUPIMA COTTON  + 20D LYCRA</c:v>
                </c:pt>
                <c:pt idx="4">
                  <c:v>SJ 40S/1 SUPIMA  CTN (AMBIKA) + 30D DYEABLE SPN</c:v>
                </c:pt>
                <c:pt idx="5">
                  <c:v>SJ 40S/1 SIRO COMPACT BAMBOO/CTN(70/30) + 20D SPN</c:v>
                </c:pt>
                <c:pt idx="6">
                  <c:v>SJ 40S/1 COMP CTN+ 20D DYEABLE SPN</c:v>
                </c:pt>
                <c:pt idx="7">
                  <c:v>SJ 30S/1 BCI + 70D SPN</c:v>
                </c:pt>
                <c:pt idx="8">
                  <c:v>SJ 40S/1 BCI CTN + 20D SPN</c:v>
                </c:pt>
                <c:pt idx="9">
                  <c:v>SJ 32S/1 SIRO COMPACT LEN MODAL + 40D SPN</c:v>
                </c:pt>
                <c:pt idx="10">
                  <c:v>SJ 30S/1 BCI + 70D SPN</c:v>
                </c:pt>
                <c:pt idx="11">
                  <c:v>RIB 1X1 30S/1 BCI</c:v>
                </c:pt>
                <c:pt idx="12">
                  <c:v>RIB 1X1 30S/1 BCI</c:v>
                </c:pt>
                <c:pt idx="13">
                  <c:v>RIB 1X1 30S/1 BCI</c:v>
                </c:pt>
                <c:pt idx="14">
                  <c:v>SJ 32S/1 FC + 30D SPN</c:v>
                </c:pt>
                <c:pt idx="15">
                  <c:v>SJ 40S/1 SUP + 30D DYEABLE SPN</c:v>
                </c:pt>
                <c:pt idx="16">
                  <c:v>SJ 32S/1 ORG CTN + 30D LYCRA</c:v>
                </c:pt>
                <c:pt idx="17">
                  <c:v>SJ 30S/1 100%CMIA + 40D LOW SET LYCRA</c:v>
                </c:pt>
                <c:pt idx="18">
                  <c:v>RIB 1X1 30S/1 BCI</c:v>
                </c:pt>
                <c:pt idx="19">
                  <c:v>SJ 40S/1 BCI CTN + 20D SPN</c:v>
                </c:pt>
                <c:pt idx="20">
                  <c:v>RIB 1X1 30S/1 BCI</c:v>
                </c:pt>
                <c:pt idx="21">
                  <c:v>SJ 40S/1 BCI</c:v>
                </c:pt>
                <c:pt idx="22">
                  <c:v>RIB 2X2 40S/1 100% CMIA CTN + 20D LYCRA</c:v>
                </c:pt>
                <c:pt idx="23">
                  <c:v>SJ 32S/1 BCI COMPACT CTN + 30D SPN</c:v>
                </c:pt>
                <c:pt idx="24">
                  <c:v>SJ 40S/1 BCI CTN + 20D SPN</c:v>
                </c:pt>
                <c:pt idx="25">
                  <c:v>SINGLE JERSEY 30S/1 100% SUPIMA CTN</c:v>
                </c:pt>
                <c:pt idx="26">
                  <c:v>SJ 40S/1 100% BCI + 40D SPN</c:v>
                </c:pt>
                <c:pt idx="27">
                  <c:v>Plated SJ1/38Ne RSCtn/Orgctn 90/10+1/75Den72FRec+40D BL SPN</c:v>
                </c:pt>
                <c:pt idx="28">
                  <c:v>SJ 30S/1 CMIA COMPACT CTN + 30D LYCRA</c:v>
                </c:pt>
                <c:pt idx="29">
                  <c:v>SINGLE JERSEY 30S/1 100% SUPIMA CTN</c:v>
                </c:pt>
                <c:pt idx="30">
                  <c:v>SINGLE JERSEY 30S/1 100% SUPIMA CTN</c:v>
                </c:pt>
                <c:pt idx="31">
                  <c:v>SJ 40S/1 CMIA CTN + 20D LYCRA</c:v>
                </c:pt>
                <c:pt idx="32">
                  <c:v>SINGLE JERSEY 30S/1 100% SUPIMA CTN</c:v>
                </c:pt>
                <c:pt idx="33">
                  <c:v>SJ 40S/1 BCI CTN + 20D SPN</c:v>
                </c:pt>
                <c:pt idx="34">
                  <c:v>SINGLE JERSEY 30S/1 100% SUPIMA CTN</c:v>
                </c:pt>
                <c:pt idx="35">
                  <c:v>SJ 40S/1 BCI CTN + 20D SPN</c:v>
                </c:pt>
                <c:pt idx="36">
                  <c:v>RIB 1X1 30S/1 BCI</c:v>
                </c:pt>
                <c:pt idx="37">
                  <c:v>SINGLE JERSEY 30S/1 100% SUPIMA CTN</c:v>
                </c:pt>
                <c:pt idx="38">
                  <c:v>RIB 1X1 30S/1 BCI</c:v>
                </c:pt>
                <c:pt idx="39">
                  <c:v>SJ 40S/1 FC</c:v>
                </c:pt>
              </c:strCache>
            </c:strRef>
          </c:cat>
          <c:val>
            <c:numRef>
              <c:f>Sheet2!$F$678:$F$717</c:f>
              <c:numCache>
                <c:formatCode>0</c:formatCode>
                <c:ptCount val="40"/>
                <c:pt idx="0">
                  <c:v>1119</c:v>
                </c:pt>
                <c:pt idx="1">
                  <c:v>1094</c:v>
                </c:pt>
                <c:pt idx="2">
                  <c:v>955</c:v>
                </c:pt>
                <c:pt idx="3">
                  <c:v>941</c:v>
                </c:pt>
                <c:pt idx="4">
                  <c:v>787</c:v>
                </c:pt>
                <c:pt idx="5">
                  <c:v>552</c:v>
                </c:pt>
                <c:pt idx="6">
                  <c:v>475</c:v>
                </c:pt>
                <c:pt idx="7">
                  <c:v>462</c:v>
                </c:pt>
                <c:pt idx="8">
                  <c:v>448</c:v>
                </c:pt>
                <c:pt idx="9">
                  <c:v>354</c:v>
                </c:pt>
                <c:pt idx="10">
                  <c:v>299</c:v>
                </c:pt>
                <c:pt idx="11">
                  <c:v>298</c:v>
                </c:pt>
                <c:pt idx="12">
                  <c:v>224</c:v>
                </c:pt>
                <c:pt idx="13">
                  <c:v>220</c:v>
                </c:pt>
                <c:pt idx="14">
                  <c:v>211</c:v>
                </c:pt>
                <c:pt idx="15">
                  <c:v>192</c:v>
                </c:pt>
                <c:pt idx="16">
                  <c:v>180</c:v>
                </c:pt>
                <c:pt idx="17">
                  <c:v>172</c:v>
                </c:pt>
                <c:pt idx="18">
                  <c:v>169</c:v>
                </c:pt>
                <c:pt idx="19">
                  <c:v>169</c:v>
                </c:pt>
                <c:pt idx="20">
                  <c:v>151</c:v>
                </c:pt>
                <c:pt idx="21">
                  <c:v>150</c:v>
                </c:pt>
                <c:pt idx="22">
                  <c:v>139</c:v>
                </c:pt>
                <c:pt idx="23">
                  <c:v>134</c:v>
                </c:pt>
                <c:pt idx="24">
                  <c:v>104</c:v>
                </c:pt>
                <c:pt idx="25">
                  <c:v>97</c:v>
                </c:pt>
                <c:pt idx="26">
                  <c:v>87</c:v>
                </c:pt>
                <c:pt idx="27">
                  <c:v>78</c:v>
                </c:pt>
                <c:pt idx="28">
                  <c:v>77</c:v>
                </c:pt>
                <c:pt idx="29">
                  <c:v>68</c:v>
                </c:pt>
                <c:pt idx="30">
                  <c:v>53</c:v>
                </c:pt>
                <c:pt idx="31">
                  <c:v>44</c:v>
                </c:pt>
                <c:pt idx="32">
                  <c:v>32</c:v>
                </c:pt>
                <c:pt idx="33">
                  <c:v>30</c:v>
                </c:pt>
                <c:pt idx="34">
                  <c:v>29</c:v>
                </c:pt>
                <c:pt idx="35">
                  <c:v>24</c:v>
                </c:pt>
                <c:pt idx="36">
                  <c:v>23</c:v>
                </c:pt>
                <c:pt idx="37">
                  <c:v>22</c:v>
                </c:pt>
                <c:pt idx="38">
                  <c:v>16</c:v>
                </c:pt>
                <c:pt idx="3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5A-4E9E-A63B-4993F022DD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2087471"/>
        <c:axId val="352094543"/>
      </c:barChart>
      <c:catAx>
        <c:axId val="352087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2094543"/>
        <c:crosses val="autoZero"/>
        <c:auto val="0"/>
        <c:lblAlgn val="ctr"/>
        <c:lblOffset val="100"/>
        <c:noMultiLvlLbl val="0"/>
      </c:catAx>
      <c:valAx>
        <c:axId val="352094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208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Sheet2!$B$643:$B$669</c:f>
              <c:strCache>
                <c:ptCount val="27"/>
                <c:pt idx="0">
                  <c:v>BLACK          </c:v>
                </c:pt>
                <c:pt idx="1">
                  <c:v>WHITE          </c:v>
                </c:pt>
                <c:pt idx="2">
                  <c:v>NAVY           </c:v>
                </c:pt>
                <c:pt idx="3">
                  <c:v>BLACK 09I      </c:v>
                </c:pt>
                <c:pt idx="4">
                  <c:v>GOTHAM GREY    </c:v>
                </c:pt>
                <c:pt idx="5">
                  <c:v>BURGUNDY       </c:v>
                </c:pt>
                <c:pt idx="6">
                  <c:v>BRIGHT WHITE   </c:v>
                </c:pt>
                <c:pt idx="7">
                  <c:v>NAVY BLAZER    </c:v>
                </c:pt>
                <c:pt idx="8">
                  <c:v>BLUE BELL      </c:v>
                </c:pt>
                <c:pt idx="9">
                  <c:v>MINNOW         </c:v>
                </c:pt>
                <c:pt idx="10">
                  <c:v>WHITE-AS SAWTCH</c:v>
                </c:pt>
                <c:pt idx="11">
                  <c:v>CSI/A10 WHITE  </c:v>
                </c:pt>
                <c:pt idx="12">
                  <c:v>SILVER LAKE    </c:v>
                </c:pt>
                <c:pt idx="13">
                  <c:v>MAJOLICA BLUE  </c:v>
                </c:pt>
                <c:pt idx="14">
                  <c:v>NAVY 69D       </c:v>
                </c:pt>
                <c:pt idx="15">
                  <c:v>TRUMPH WHITE   </c:v>
                </c:pt>
                <c:pt idx="16">
                  <c:v>OMBRE BLUE     </c:v>
                </c:pt>
                <c:pt idx="17">
                  <c:v>BLUE           </c:v>
                </c:pt>
                <c:pt idx="18">
                  <c:v>BLUE 62Q       </c:v>
                </c:pt>
                <c:pt idx="19">
                  <c:v>NATURAL        </c:v>
                </c:pt>
                <c:pt idx="20">
                  <c:v>ACTIVE BLUE    </c:v>
                </c:pt>
                <c:pt idx="21">
                  <c:v>GREEN          </c:v>
                </c:pt>
                <c:pt idx="22">
                  <c:v>PYRO BLUE      </c:v>
                </c:pt>
                <c:pt idx="23">
                  <c:v>ZEN GREEN      </c:v>
                </c:pt>
                <c:pt idx="24">
                  <c:v>BLUE 66AG      </c:v>
                </c:pt>
                <c:pt idx="25">
                  <c:v>TRUE BLUE      </c:v>
                </c:pt>
                <c:pt idx="26">
                  <c:v>WNTR WINE 21P9 </c:v>
                </c:pt>
              </c:strCache>
            </c:strRef>
          </c:cat>
          <c:val>
            <c:numRef>
              <c:f>Sheet2!$C$643:$C$669</c:f>
              <c:numCache>
                <c:formatCode>0</c:formatCode>
                <c:ptCount val="27"/>
                <c:pt idx="0">
                  <c:v>2397</c:v>
                </c:pt>
                <c:pt idx="1">
                  <c:v>2147</c:v>
                </c:pt>
                <c:pt idx="2">
                  <c:v>2056</c:v>
                </c:pt>
                <c:pt idx="3">
                  <c:v>955</c:v>
                </c:pt>
                <c:pt idx="4">
                  <c:v>448</c:v>
                </c:pt>
                <c:pt idx="5">
                  <c:v>354</c:v>
                </c:pt>
                <c:pt idx="6">
                  <c:v>352</c:v>
                </c:pt>
                <c:pt idx="7">
                  <c:v>308</c:v>
                </c:pt>
                <c:pt idx="8">
                  <c:v>298</c:v>
                </c:pt>
                <c:pt idx="9">
                  <c:v>224</c:v>
                </c:pt>
                <c:pt idx="10">
                  <c:v>220</c:v>
                </c:pt>
                <c:pt idx="11">
                  <c:v>211</c:v>
                </c:pt>
                <c:pt idx="12">
                  <c:v>151</c:v>
                </c:pt>
                <c:pt idx="13">
                  <c:v>117</c:v>
                </c:pt>
                <c:pt idx="14">
                  <c:v>97</c:v>
                </c:pt>
                <c:pt idx="15">
                  <c:v>87</c:v>
                </c:pt>
                <c:pt idx="16">
                  <c:v>77</c:v>
                </c:pt>
                <c:pt idx="17">
                  <c:v>68</c:v>
                </c:pt>
                <c:pt idx="18">
                  <c:v>53</c:v>
                </c:pt>
                <c:pt idx="19">
                  <c:v>32</c:v>
                </c:pt>
                <c:pt idx="20">
                  <c:v>30</c:v>
                </c:pt>
                <c:pt idx="21">
                  <c:v>29</c:v>
                </c:pt>
                <c:pt idx="22">
                  <c:v>24</c:v>
                </c:pt>
                <c:pt idx="23">
                  <c:v>23</c:v>
                </c:pt>
                <c:pt idx="24">
                  <c:v>22</c:v>
                </c:pt>
                <c:pt idx="25">
                  <c:v>16</c:v>
                </c:pt>
                <c:pt idx="2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B-4022-90DE-9DC06A5E87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0191711"/>
        <c:axId val="720189631"/>
      </c:barChart>
      <c:catAx>
        <c:axId val="720191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189631"/>
        <c:crosses val="autoZero"/>
        <c:auto val="1"/>
        <c:lblAlgn val="ctr"/>
        <c:lblOffset val="100"/>
        <c:noMultiLvlLbl val="0"/>
      </c:catAx>
      <c:valAx>
        <c:axId val="720189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191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REPROCESS</a:t>
            </a:r>
            <a:r>
              <a:rPr lang="en-US" sz="1800" baseline="0" dirty="0"/>
              <a:t> DUE TO KNITTING</a:t>
            </a:r>
            <a:endParaRPr lang="en-IN" dirty="0"/>
          </a:p>
        </c:rich>
      </c:tx>
      <c:layout>
        <c:manualLayout>
          <c:xMode val="edge"/>
          <c:yMode val="edge"/>
          <c:x val="0.16957098193608156"/>
          <c:y val="5.25355649227892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6762197004786166E-2"/>
          <c:y val="0.22207950749861308"/>
          <c:w val="0.58954666512274212"/>
          <c:h val="0.70203578761291363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D40-4214-81FF-CCD14A2778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D40-4214-81FF-CCD14A2778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D40-4214-81FF-CCD14A2778C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07A5C992-C2A4-40E0-90DA-29E84CD6FD81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D40-4214-81FF-CCD14A2778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F9D6576-4CF9-40CC-BE1D-56B2705A2E80}" type="PERCENTAGE">
                      <a:rPr lang="en-US" sz="1000" baseline="0">
                        <a:solidFill>
                          <a:schemeClr val="tx1"/>
                        </a:solidFill>
                        <a:latin typeface="Arial Black" panose="020B0A04020102020204" pitchFamily="34" charset="0"/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D40-4214-81FF-CCD14A2778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166BE3A-96BE-4E1D-BE7C-7B1911CDC487}" type="PERCENTAGE">
                      <a:rPr lang="en-US" baseline="0"/>
                      <a:pPr/>
                      <a:t>[PERCENTAGE]</a:t>
                    </a:fld>
                    <a:endParaRPr lang="en-IN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D40-4214-81FF-CCD14A2778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Sheet2!$L$160:$L$162</c:f>
              <c:strCache>
                <c:ptCount val="3"/>
                <c:pt idx="0">
                  <c:v>OIL LINE       </c:v>
                </c:pt>
                <c:pt idx="1">
                  <c:v>HOLES          </c:v>
                </c:pt>
                <c:pt idx="2">
                  <c:v>BARRE          </c:v>
                </c:pt>
              </c:strCache>
            </c:strRef>
          </c:cat>
          <c:val>
            <c:numRef>
              <c:f>Sheet2!$M$160:$M$162</c:f>
              <c:numCache>
                <c:formatCode>0</c:formatCode>
                <c:ptCount val="3"/>
                <c:pt idx="0">
                  <c:v>1999</c:v>
                </c:pt>
                <c:pt idx="1">
                  <c:v>970</c:v>
                </c:pt>
                <c:pt idx="2">
                  <c:v>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D40-4214-81FF-CCD14A2778C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5202273429056676"/>
          <c:y val="0.32686130105268768"/>
          <c:w val="0.22836942257217849"/>
          <c:h val="0.34126009057443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Sheet2!$L$478</c:f>
              <c:strCache>
                <c:ptCount val="1"/>
                <c:pt idx="0">
                  <c:v>KGS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Sheet2!$K$479:$K$487</c:f>
              <c:strCache>
                <c:ptCount val="9"/>
                <c:pt idx="0">
                  <c:v>SJ 40S/1 BCI CTN + 20D SPN</c:v>
                </c:pt>
                <c:pt idx="1">
                  <c:v>RIB 1X1 30S/1 BCI</c:v>
                </c:pt>
                <c:pt idx="2">
                  <c:v>RIB 1X1 30S/1 BCI</c:v>
                </c:pt>
                <c:pt idx="3">
                  <c:v>SJ 28S/1 100% COMPACT CTN</c:v>
                </c:pt>
                <c:pt idx="4">
                  <c:v>SJ 40S/1 BCI CTN + 20D SPN</c:v>
                </c:pt>
                <c:pt idx="5">
                  <c:v>SJ 32S/1 100% CMIA CTN + 30D LYCRA</c:v>
                </c:pt>
                <c:pt idx="6">
                  <c:v>SJ 30S/1 CMIA COTTON + 30D SPN</c:v>
                </c:pt>
                <c:pt idx="7">
                  <c:v>SJ 40S/1 BCI CTN + 20D SPN</c:v>
                </c:pt>
                <c:pt idx="8">
                  <c:v>SJ 40S/1 BCI CTN + 20D SPN</c:v>
                </c:pt>
              </c:strCache>
            </c:strRef>
          </c:cat>
          <c:val>
            <c:numRef>
              <c:f>Sheet2!$L$479:$L$487</c:f>
              <c:numCache>
                <c:formatCode>0</c:formatCode>
                <c:ptCount val="9"/>
                <c:pt idx="0">
                  <c:v>507</c:v>
                </c:pt>
                <c:pt idx="1">
                  <c:v>490</c:v>
                </c:pt>
                <c:pt idx="2">
                  <c:v>459</c:v>
                </c:pt>
                <c:pt idx="3">
                  <c:v>169</c:v>
                </c:pt>
                <c:pt idx="4">
                  <c:v>132</c:v>
                </c:pt>
                <c:pt idx="5">
                  <c:v>123</c:v>
                </c:pt>
                <c:pt idx="6">
                  <c:v>84</c:v>
                </c:pt>
                <c:pt idx="7">
                  <c:v>21</c:v>
                </c:pt>
                <c:pt idx="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62-4C94-9063-CF310F462E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7944591"/>
        <c:axId val="467951247"/>
      </c:barChart>
      <c:catAx>
        <c:axId val="467944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951247"/>
        <c:crosses val="autoZero"/>
        <c:auto val="1"/>
        <c:lblAlgn val="ctr"/>
        <c:lblOffset val="100"/>
        <c:noMultiLvlLbl val="0"/>
      </c:catAx>
      <c:valAx>
        <c:axId val="467951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944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Sheet2!$L$501:$L$507</c:f>
              <c:strCache>
                <c:ptCount val="7"/>
                <c:pt idx="0">
                  <c:v>BLACK          </c:v>
                </c:pt>
                <c:pt idx="1">
                  <c:v>ARMY GREEN     </c:v>
                </c:pt>
                <c:pt idx="2">
                  <c:v>WHITE-AS SAWTCH</c:v>
                </c:pt>
                <c:pt idx="3">
                  <c:v>BLACK BEAUTY   </c:v>
                </c:pt>
                <c:pt idx="4">
                  <c:v>PEACOAT        </c:v>
                </c:pt>
                <c:pt idx="5">
                  <c:v>BLACK-7142568  </c:v>
                </c:pt>
                <c:pt idx="6">
                  <c:v>COBALT SAPPHIRE</c:v>
                </c:pt>
              </c:strCache>
            </c:strRef>
          </c:cat>
          <c:val>
            <c:numRef>
              <c:f>Sheet2!$M$501:$M$507</c:f>
              <c:numCache>
                <c:formatCode>0</c:formatCode>
                <c:ptCount val="7"/>
                <c:pt idx="0">
                  <c:v>595</c:v>
                </c:pt>
                <c:pt idx="1">
                  <c:v>507</c:v>
                </c:pt>
                <c:pt idx="2">
                  <c:v>459</c:v>
                </c:pt>
                <c:pt idx="3">
                  <c:v>169</c:v>
                </c:pt>
                <c:pt idx="4">
                  <c:v>132</c:v>
                </c:pt>
                <c:pt idx="5">
                  <c:v>123</c:v>
                </c:pt>
                <c:pt idx="6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C4-4B50-9EDB-4B4F1A3AF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6869263"/>
        <c:axId val="426870511"/>
      </c:barChart>
      <c:catAx>
        <c:axId val="426869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870511"/>
        <c:crosses val="autoZero"/>
        <c:auto val="1"/>
        <c:lblAlgn val="ctr"/>
        <c:lblOffset val="100"/>
        <c:noMultiLvlLbl val="0"/>
      </c:catAx>
      <c:valAx>
        <c:axId val="426870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8692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dirty="0">
                <a:solidFill>
                  <a:schemeClr val="tx1"/>
                </a:solidFill>
              </a:rPr>
              <a:t>REPROCESS</a:t>
            </a:r>
            <a:r>
              <a:rPr lang="en-IN" sz="1800" baseline="0" dirty="0">
                <a:solidFill>
                  <a:schemeClr val="tx1"/>
                </a:solidFill>
              </a:rPr>
              <a:t> DUE TO FINISHING</a:t>
            </a:r>
            <a:endParaRPr lang="en-IN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1792882507333641"/>
          <c:y val="9.04779173670259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46445113478462"/>
          <c:y val="0.20877049771817313"/>
          <c:w val="0.61787999845607522"/>
          <c:h val="0.73577529486332693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B93-4B75-8E5E-73C2960E8E5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B93-4B75-8E5E-73C2960E8E5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B93-4B75-8E5E-73C2960E8E5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51EA0EF1-8D5D-4D65-B94C-B34B8FAE5354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B93-4B75-8E5E-73C2960E8E5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0C887721-AB8D-43DB-83DD-0B562D8B6BA4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B93-4B75-8E5E-73C2960E8E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31%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B93-4B75-8E5E-73C2960E8E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Sheet2!$G$186:$G$188</c:f>
              <c:strCache>
                <c:ptCount val="3"/>
                <c:pt idx="0">
                  <c:v>NARROW WIDTH   </c:v>
                </c:pt>
                <c:pt idx="1">
                  <c:v>DIRTY MARK     </c:v>
                </c:pt>
                <c:pt idx="2">
                  <c:v>COMPACT MARK   </c:v>
                </c:pt>
              </c:strCache>
            </c:strRef>
          </c:cat>
          <c:val>
            <c:numRef>
              <c:f>Sheet2!$H$186:$H$188</c:f>
              <c:numCache>
                <c:formatCode>0</c:formatCode>
                <c:ptCount val="3"/>
                <c:pt idx="0">
                  <c:v>1619</c:v>
                </c:pt>
                <c:pt idx="1">
                  <c:v>1375</c:v>
                </c:pt>
                <c:pt idx="2">
                  <c:v>1356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93-4B75-8E5E-73C2960E8E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631870464721327"/>
          <c:y val="0.39478960264635848"/>
          <c:w val="0.26123031496062993"/>
          <c:h val="0.305364005278376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Sheet2!$G$974:$G$997</c:f>
              <c:strCache>
                <c:ptCount val="24"/>
                <c:pt idx="0">
                  <c:v>SJ 30S/1 CMIA COTTON + 30D SPN</c:v>
                </c:pt>
                <c:pt idx="1">
                  <c:v>SJ 30S/1 CMIA COMPACT CTN + 30D LYCRA</c:v>
                </c:pt>
                <c:pt idx="2">
                  <c:v>SJ 32S/1 100% CMIA CTN + 30D LYCRA</c:v>
                </c:pt>
                <c:pt idx="3">
                  <c:v>SJ 40S/1 BCI CTN + 20D SPN</c:v>
                </c:pt>
                <c:pt idx="4">
                  <c:v>SJ 40S/1 BCI CTN + 20D SPN</c:v>
                </c:pt>
                <c:pt idx="5">
                  <c:v>SJ 40S/1 BCI</c:v>
                </c:pt>
                <c:pt idx="6">
                  <c:v>SJ 32S/1 100% CMIA CTN + 30D LYCRA</c:v>
                </c:pt>
                <c:pt idx="7">
                  <c:v>SJ 40S/1 BCI CTN + 20D SPN</c:v>
                </c:pt>
                <c:pt idx="8">
                  <c:v>SJ 40S/1 COMP CTN+ 20D DYEABLE SPN</c:v>
                </c:pt>
                <c:pt idx="9">
                  <c:v>SJ 30S/1 CMIA COMPACT CTN + 30D LYCRA</c:v>
                </c:pt>
                <c:pt idx="10">
                  <c:v>SJ 40S/1 BCI CTN + 20D SPN</c:v>
                </c:pt>
                <c:pt idx="11">
                  <c:v>SJ 40S/1 BCI CTN + 20D SPN</c:v>
                </c:pt>
                <c:pt idx="12">
                  <c:v>SJ 40S/1 BCI CTN + 20D SPN</c:v>
                </c:pt>
                <c:pt idx="13">
                  <c:v>SINGLE JERSEY 30S/1 100% SUPIMA CTN</c:v>
                </c:pt>
                <c:pt idx="14">
                  <c:v>SJ 32S/1 100% CMIA CTN + 30D LYCRA</c:v>
                </c:pt>
                <c:pt idx="15">
                  <c:v>SJ 40S/1 BCI CTN + 20D SPN</c:v>
                </c:pt>
                <c:pt idx="16">
                  <c:v>SJ 40S/1 SIRO COMPACT BAMBOO/CTN(70/30) + 20D SPN</c:v>
                </c:pt>
                <c:pt idx="17">
                  <c:v>SJ 32S/1 H SIRO COMPACT LEN MODAL + 40D SPN</c:v>
                </c:pt>
                <c:pt idx="18">
                  <c:v>SJ 40S/1 CMIA CTN + 20D LYCRA</c:v>
                </c:pt>
                <c:pt idx="19">
                  <c:v>SJ 32S/1 100% CMIA CTN + 30D LYCRA</c:v>
                </c:pt>
                <c:pt idx="20">
                  <c:v>SJ 40S/1 100% BCI + 40D SPN</c:v>
                </c:pt>
                <c:pt idx="21">
                  <c:v>SJ 40S/1 BCI CTN + 20D SPN</c:v>
                </c:pt>
                <c:pt idx="22">
                  <c:v>SJ 40S/1 CMIA CTN + 20D LYCRA</c:v>
                </c:pt>
                <c:pt idx="23">
                  <c:v>RIB 1X1 30S/1 BCI</c:v>
                </c:pt>
              </c:strCache>
            </c:strRef>
          </c:cat>
          <c:val>
            <c:numRef>
              <c:f>Sheet2!$H$974:$H$997</c:f>
              <c:numCache>
                <c:formatCode>0</c:formatCode>
                <c:ptCount val="24"/>
                <c:pt idx="0">
                  <c:v>246</c:v>
                </c:pt>
                <c:pt idx="1">
                  <c:v>212</c:v>
                </c:pt>
                <c:pt idx="2">
                  <c:v>192</c:v>
                </c:pt>
                <c:pt idx="3">
                  <c:v>117</c:v>
                </c:pt>
                <c:pt idx="4">
                  <c:v>86</c:v>
                </c:pt>
                <c:pt idx="5">
                  <c:v>77</c:v>
                </c:pt>
                <c:pt idx="6">
                  <c:v>75</c:v>
                </c:pt>
                <c:pt idx="7">
                  <c:v>73</c:v>
                </c:pt>
                <c:pt idx="8">
                  <c:v>70</c:v>
                </c:pt>
                <c:pt idx="9">
                  <c:v>54</c:v>
                </c:pt>
                <c:pt idx="10">
                  <c:v>46</c:v>
                </c:pt>
                <c:pt idx="11">
                  <c:v>44</c:v>
                </c:pt>
                <c:pt idx="12">
                  <c:v>42</c:v>
                </c:pt>
                <c:pt idx="13">
                  <c:v>38</c:v>
                </c:pt>
                <c:pt idx="14">
                  <c:v>35</c:v>
                </c:pt>
                <c:pt idx="15">
                  <c:v>33</c:v>
                </c:pt>
                <c:pt idx="16">
                  <c:v>30</c:v>
                </c:pt>
                <c:pt idx="17">
                  <c:v>26</c:v>
                </c:pt>
                <c:pt idx="18">
                  <c:v>24</c:v>
                </c:pt>
                <c:pt idx="19">
                  <c:v>24</c:v>
                </c:pt>
                <c:pt idx="20">
                  <c:v>22</c:v>
                </c:pt>
                <c:pt idx="21">
                  <c:v>21</c:v>
                </c:pt>
                <c:pt idx="22">
                  <c:v>17</c:v>
                </c:pt>
                <c:pt idx="2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63-4DB5-9E84-718F95364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7650608"/>
        <c:axId val="1497646864"/>
      </c:barChart>
      <c:catAx>
        <c:axId val="1497650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7646864"/>
        <c:crosses val="autoZero"/>
        <c:auto val="1"/>
        <c:lblAlgn val="ctr"/>
        <c:lblOffset val="100"/>
        <c:noMultiLvlLbl val="0"/>
      </c:catAx>
      <c:valAx>
        <c:axId val="149764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765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Sheet2!$D$939:$D$956</c:f>
              <c:strCache>
                <c:ptCount val="18"/>
                <c:pt idx="0">
                  <c:v>BLACK          </c:v>
                </c:pt>
                <c:pt idx="1">
                  <c:v>ESTATE BLUE    </c:v>
                </c:pt>
                <c:pt idx="2">
                  <c:v>WHITE          </c:v>
                </c:pt>
                <c:pt idx="3">
                  <c:v>COBALT SAPPHIRE</c:v>
                </c:pt>
                <c:pt idx="4">
                  <c:v>ARMY GREEN     </c:v>
                </c:pt>
                <c:pt idx="5">
                  <c:v>DARK GREY/08C  </c:v>
                </c:pt>
                <c:pt idx="6">
                  <c:v>SILVER LAKE    </c:v>
                </c:pt>
                <c:pt idx="7">
                  <c:v>WARM SAND      </c:v>
                </c:pt>
                <c:pt idx="8">
                  <c:v>JOLLY GREN BEAN</c:v>
                </c:pt>
                <c:pt idx="9">
                  <c:v>BLACK 09I      </c:v>
                </c:pt>
                <c:pt idx="10">
                  <c:v>BLACK-7142568  </c:v>
                </c:pt>
                <c:pt idx="11">
                  <c:v>STRM CLD/M13371</c:v>
                </c:pt>
                <c:pt idx="12">
                  <c:v>FROST GREY     </c:v>
                </c:pt>
                <c:pt idx="13">
                  <c:v>MARL-BC17      </c:v>
                </c:pt>
                <c:pt idx="14">
                  <c:v>AMARANTH       </c:v>
                </c:pt>
                <c:pt idx="15">
                  <c:v>PINK THRILL    </c:v>
                </c:pt>
                <c:pt idx="16">
                  <c:v>SHORELIN/M12977</c:v>
                </c:pt>
                <c:pt idx="17">
                  <c:v>OCEAN DEPTHS   </c:v>
                </c:pt>
              </c:strCache>
            </c:strRef>
          </c:cat>
          <c:val>
            <c:numRef>
              <c:f>Sheet2!$E$939:$E$956</c:f>
              <c:numCache>
                <c:formatCode>0</c:formatCode>
                <c:ptCount val="18"/>
                <c:pt idx="0">
                  <c:v>630</c:v>
                </c:pt>
                <c:pt idx="1">
                  <c:v>192</c:v>
                </c:pt>
                <c:pt idx="2">
                  <c:v>121</c:v>
                </c:pt>
                <c:pt idx="3">
                  <c:v>117</c:v>
                </c:pt>
                <c:pt idx="4">
                  <c:v>86</c:v>
                </c:pt>
                <c:pt idx="5">
                  <c:v>70</c:v>
                </c:pt>
                <c:pt idx="6">
                  <c:v>61</c:v>
                </c:pt>
                <c:pt idx="7">
                  <c:v>54</c:v>
                </c:pt>
                <c:pt idx="8">
                  <c:v>42</c:v>
                </c:pt>
                <c:pt idx="9">
                  <c:v>38</c:v>
                </c:pt>
                <c:pt idx="10">
                  <c:v>35</c:v>
                </c:pt>
                <c:pt idx="11">
                  <c:v>33</c:v>
                </c:pt>
                <c:pt idx="12">
                  <c:v>30</c:v>
                </c:pt>
                <c:pt idx="13">
                  <c:v>26</c:v>
                </c:pt>
                <c:pt idx="14">
                  <c:v>24</c:v>
                </c:pt>
                <c:pt idx="15">
                  <c:v>22</c:v>
                </c:pt>
                <c:pt idx="16">
                  <c:v>21</c:v>
                </c:pt>
                <c:pt idx="17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A3-46BB-82BF-250EAACE63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06216656"/>
        <c:axId val="1506207920"/>
      </c:barChart>
      <c:catAx>
        <c:axId val="150621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6207920"/>
        <c:crosses val="autoZero"/>
        <c:auto val="1"/>
        <c:lblAlgn val="ctr"/>
        <c:lblOffset val="100"/>
        <c:noMultiLvlLbl val="0"/>
      </c:catAx>
      <c:valAx>
        <c:axId val="150620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6216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dirty="0">
                <a:latin typeface="+mn-lt"/>
              </a:rPr>
              <a:t>reprocess</a:t>
            </a:r>
            <a:r>
              <a:rPr lang="en-IN" sz="1800" baseline="0" dirty="0">
                <a:latin typeface="+mn-lt"/>
              </a:rPr>
              <a:t> due to printing</a:t>
            </a:r>
            <a:endParaRPr lang="en-IN" sz="1800" dirty="0">
              <a:latin typeface="+mn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763329441262798E-2"/>
          <c:y val="0.18004494382022471"/>
          <c:w val="0.58232153647523499"/>
          <c:h val="0.71208988764044956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468-4776-BD58-FF9E0C4E06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468-4776-BD58-FF9E0C4E06C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468-4776-BD58-FF9E0C4E06C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Sheet2!$G$1145:$G$1147</c:f>
              <c:strCache>
                <c:ptCount val="3"/>
                <c:pt idx="0">
                  <c:v>TOUCH UP       </c:v>
                </c:pt>
                <c:pt idx="1">
                  <c:v>R2R VARATION   </c:v>
                </c:pt>
                <c:pt idx="2">
                  <c:v>OUT SETTING</c:v>
                </c:pt>
              </c:strCache>
            </c:strRef>
          </c:cat>
          <c:val>
            <c:numRef>
              <c:f>Sheet2!$H$1145:$H$1147</c:f>
              <c:numCache>
                <c:formatCode>General</c:formatCode>
                <c:ptCount val="3"/>
                <c:pt idx="0">
                  <c:v>2582</c:v>
                </c:pt>
                <c:pt idx="1">
                  <c:v>1008</c:v>
                </c:pt>
                <c:pt idx="2">
                  <c:v>710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68-4776-BD58-FF9E0C4E06C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557808398950142"/>
          <c:y val="0.38301983085447655"/>
          <c:w val="0.24775524934383203"/>
          <c:h val="0.294561825605132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Sheet2!$J$616:$J$633</c:f>
              <c:strCache>
                <c:ptCount val="18"/>
                <c:pt idx="0">
                  <c:v>SJ 40S/1 100% BCI COMP+40D SPN</c:v>
                </c:pt>
                <c:pt idx="1">
                  <c:v>SJ 40S/1 BCI CTN + 20D SPN</c:v>
                </c:pt>
                <c:pt idx="2">
                  <c:v>SJ 40S/1 COTTN/MODAL + 20D SPN</c:v>
                </c:pt>
                <c:pt idx="3">
                  <c:v>SJ 40S/1 100% BCI COMP + 40D SPN</c:v>
                </c:pt>
                <c:pt idx="4">
                  <c:v>SJ 30S/1 ORGANIC CTN + 30D LYCRA</c:v>
                </c:pt>
                <c:pt idx="5">
                  <c:v>SJ 40S/1 BCI CTN + 20D SPN</c:v>
                </c:pt>
                <c:pt idx="6">
                  <c:v>SJ 40S/1 H (BCI) + 20D SPN</c:v>
                </c:pt>
                <c:pt idx="7">
                  <c:v>SJ 40S/1 BCI CTN + 20D SPN</c:v>
                </c:pt>
                <c:pt idx="8">
                  <c:v>SJ 40S/1 CC BCI + 20D LYCRA</c:v>
                </c:pt>
                <c:pt idx="9">
                  <c:v>SJ 40S/1 100% BCI COMP + 40D SPN</c:v>
                </c:pt>
                <c:pt idx="10">
                  <c:v>SJ 40S/1 100% BCI COMP + 40D SPN</c:v>
                </c:pt>
                <c:pt idx="11">
                  <c:v>SJ 40S/1 CMIA CTN + 20D LYCRA</c:v>
                </c:pt>
                <c:pt idx="12">
                  <c:v>SJ 40S/1 CMIA CTN + 20D LYCRA</c:v>
                </c:pt>
                <c:pt idx="13">
                  <c:v>SJ 40S/1 100% BCI COMP + 40D SPN</c:v>
                </c:pt>
                <c:pt idx="14">
                  <c:v>SJ 40S/1 CMIA CTN + 20D LYCRA</c:v>
                </c:pt>
                <c:pt idx="15">
                  <c:v>SJ 40S/1 BCI CTN + 20D SPN</c:v>
                </c:pt>
                <c:pt idx="16">
                  <c:v>SJ 40S/1 BCI CTN + 20D SPN</c:v>
                </c:pt>
                <c:pt idx="17">
                  <c:v>SJ 32S/1 FC + 30D SPN</c:v>
                </c:pt>
              </c:strCache>
            </c:strRef>
          </c:cat>
          <c:val>
            <c:numRef>
              <c:f>Sheet2!$K$616:$K$633</c:f>
              <c:numCache>
                <c:formatCode>0</c:formatCode>
                <c:ptCount val="18"/>
                <c:pt idx="0">
                  <c:v>1438</c:v>
                </c:pt>
                <c:pt idx="1">
                  <c:v>662</c:v>
                </c:pt>
                <c:pt idx="2">
                  <c:v>552</c:v>
                </c:pt>
                <c:pt idx="3">
                  <c:v>441</c:v>
                </c:pt>
                <c:pt idx="4">
                  <c:v>400</c:v>
                </c:pt>
                <c:pt idx="5">
                  <c:v>133</c:v>
                </c:pt>
                <c:pt idx="6">
                  <c:v>129</c:v>
                </c:pt>
                <c:pt idx="7">
                  <c:v>121</c:v>
                </c:pt>
                <c:pt idx="8">
                  <c:v>104</c:v>
                </c:pt>
                <c:pt idx="9">
                  <c:v>91</c:v>
                </c:pt>
                <c:pt idx="10">
                  <c:v>50</c:v>
                </c:pt>
                <c:pt idx="11">
                  <c:v>47</c:v>
                </c:pt>
                <c:pt idx="12">
                  <c:v>45</c:v>
                </c:pt>
                <c:pt idx="13">
                  <c:v>44</c:v>
                </c:pt>
                <c:pt idx="14">
                  <c:v>12</c:v>
                </c:pt>
                <c:pt idx="15">
                  <c:v>12</c:v>
                </c:pt>
                <c:pt idx="16">
                  <c:v>11</c:v>
                </c:pt>
                <c:pt idx="1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8E-488A-B837-AFDF8B27D7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94927936"/>
        <c:axId val="1594935424"/>
      </c:barChart>
      <c:catAx>
        <c:axId val="1594927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4935424"/>
        <c:crosses val="autoZero"/>
        <c:auto val="1"/>
        <c:lblAlgn val="ctr"/>
        <c:lblOffset val="100"/>
        <c:noMultiLvlLbl val="0"/>
      </c:catAx>
      <c:valAx>
        <c:axId val="159493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492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Sheet2!$I$643:$I$660</c:f>
              <c:strCache>
                <c:ptCount val="18"/>
                <c:pt idx="0">
                  <c:v>OPTC WHT/Z0745 </c:v>
                </c:pt>
                <c:pt idx="1">
                  <c:v>CLSIC WHT/Z0631</c:v>
                </c:pt>
                <c:pt idx="2">
                  <c:v>OPTC WHIT/Z0745</c:v>
                </c:pt>
                <c:pt idx="3">
                  <c:v>SKY CPTN/M14944</c:v>
                </c:pt>
                <c:pt idx="4">
                  <c:v>DRK DENM/M14945</c:v>
                </c:pt>
                <c:pt idx="5">
                  <c:v>PSTL BLU/M14296</c:v>
                </c:pt>
                <c:pt idx="6">
                  <c:v>CLSIC WHT/Z0631</c:v>
                </c:pt>
                <c:pt idx="7">
                  <c:v>NAVY/M13181    </c:v>
                </c:pt>
                <c:pt idx="8">
                  <c:v>OPTC WHIT/Z0745</c:v>
                </c:pt>
                <c:pt idx="9">
                  <c:v>DRK DENM/M14945</c:v>
                </c:pt>
                <c:pt idx="10">
                  <c:v>CLSC WHT/Z0631 </c:v>
                </c:pt>
                <c:pt idx="11">
                  <c:v>PURE BLK/M14986</c:v>
                </c:pt>
                <c:pt idx="12">
                  <c:v>WNTR WNE/M14745</c:v>
                </c:pt>
                <c:pt idx="13">
                  <c:v>DSRT FLW/M15083</c:v>
                </c:pt>
                <c:pt idx="14">
                  <c:v>MARL-B10       </c:v>
                </c:pt>
                <c:pt idx="15">
                  <c:v>LVNDR LV/M14975</c:v>
                </c:pt>
                <c:pt idx="16">
                  <c:v>SHORELIN/M12977</c:v>
                </c:pt>
                <c:pt idx="17">
                  <c:v>BLACK/M15202   </c:v>
                </c:pt>
              </c:strCache>
            </c:strRef>
          </c:cat>
          <c:val>
            <c:numRef>
              <c:f>Sheet2!$J$643:$J$660</c:f>
              <c:numCache>
                <c:formatCode>0</c:formatCode>
                <c:ptCount val="18"/>
                <c:pt idx="0">
                  <c:v>1438</c:v>
                </c:pt>
                <c:pt idx="1">
                  <c:v>662</c:v>
                </c:pt>
                <c:pt idx="2">
                  <c:v>552</c:v>
                </c:pt>
                <c:pt idx="3">
                  <c:v>441</c:v>
                </c:pt>
                <c:pt idx="4">
                  <c:v>400</c:v>
                </c:pt>
                <c:pt idx="5">
                  <c:v>133</c:v>
                </c:pt>
                <c:pt idx="6">
                  <c:v>129</c:v>
                </c:pt>
                <c:pt idx="7">
                  <c:v>121</c:v>
                </c:pt>
                <c:pt idx="8">
                  <c:v>104</c:v>
                </c:pt>
                <c:pt idx="9">
                  <c:v>91</c:v>
                </c:pt>
                <c:pt idx="10">
                  <c:v>50</c:v>
                </c:pt>
                <c:pt idx="11">
                  <c:v>47</c:v>
                </c:pt>
                <c:pt idx="12">
                  <c:v>45</c:v>
                </c:pt>
                <c:pt idx="13">
                  <c:v>44</c:v>
                </c:pt>
                <c:pt idx="14">
                  <c:v>12</c:v>
                </c:pt>
                <c:pt idx="15">
                  <c:v>12</c:v>
                </c:pt>
                <c:pt idx="16">
                  <c:v>11</c:v>
                </c:pt>
                <c:pt idx="1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3F-483A-96CF-3DDEFC3F8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0955808"/>
        <c:axId val="1740952896"/>
      </c:barChart>
      <c:catAx>
        <c:axId val="174095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0952896"/>
        <c:crosses val="autoZero"/>
        <c:auto val="1"/>
        <c:lblAlgn val="ctr"/>
        <c:lblOffset val="100"/>
        <c:noMultiLvlLbl val="0"/>
      </c:catAx>
      <c:valAx>
        <c:axId val="1740952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095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[report.xlsx]Sheet6!PivotTable1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</a:t>
                </a:r>
                <a:fld id="{02C28B3B-563C-4EF3-8176-8AC3179CD72F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8A1331E2-F1FC-464A-B858-A81D7012C1C1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8A1331E2-F1FC-464A-B858-A81D7012C1C1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</a:t>
                </a:r>
                <a:fld id="{02C28B3B-563C-4EF3-8176-8AC3179CD72F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8A1331E2-F1FC-464A-B858-A81D7012C1C1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</a:t>
                </a:r>
                <a:fld id="{02C28B3B-563C-4EF3-8176-8AC3179CD72F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7.7822680253203644E-2"/>
          <c:y val="0.16928126475120986"/>
          <c:w val="0.60202215531882053"/>
          <c:h val="0.71689167791608022"/>
        </c:manualLayout>
      </c:layout>
      <c:pieChart>
        <c:varyColors val="1"/>
        <c:ser>
          <c:idx val="0"/>
          <c:order val="0"/>
          <c:tx>
            <c:strRef>
              <c:f>Sheet6!$B$25</c:f>
              <c:strCache>
                <c:ptCount val="1"/>
                <c:pt idx="0">
                  <c:v> KGS</c:v>
                </c:pt>
              </c:strCache>
            </c:strRef>
          </c:tx>
          <c:dPt>
            <c:idx val="0"/>
            <c:bubble3D val="0"/>
            <c:explosion val="6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85-46E1-BF5C-DC8EFA9B43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85-46E1-BF5C-DC8EFA9B43F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A1331E2-F1FC-464A-B858-A81D7012C1C1}" type="PERCENTAGE">
                      <a:rPr lang="en-US"/>
                      <a:pPr/>
                      <a:t>[PERCENTAGE]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385-46E1-BF5C-DC8EFA9B43F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</a:t>
                    </a:r>
                    <a:fld id="{02C28B3B-563C-4EF3-8176-8AC3179CD72F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385-46E1-BF5C-DC8EFA9B43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Sheet6!$A$26:$A$28</c:f>
              <c:strCache>
                <c:ptCount val="2"/>
                <c:pt idx="0">
                  <c:v>Dyeing</c:v>
                </c:pt>
                <c:pt idx="1">
                  <c:v>FINISHING</c:v>
                </c:pt>
              </c:strCache>
            </c:strRef>
          </c:cat>
          <c:val>
            <c:numRef>
              <c:f>Sheet6!$B$26:$B$28</c:f>
              <c:numCache>
                <c:formatCode>General</c:formatCode>
                <c:ptCount val="2"/>
                <c:pt idx="0">
                  <c:v>31252.9</c:v>
                </c:pt>
                <c:pt idx="1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85-46E1-BF5C-DC8EFA9B43F5}"/>
            </c:ext>
          </c:extLst>
        </c:ser>
        <c:ser>
          <c:idx val="1"/>
          <c:order val="1"/>
          <c:tx>
            <c:strRef>
              <c:f>Sheet6!$C$25</c:f>
              <c:strCache>
                <c:ptCount val="1"/>
                <c:pt idx="0">
                  <c:v>MTRS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F385-46E1-BF5C-DC8EFA9B43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F385-46E1-BF5C-DC8EFA9B43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Sheet6!$A$26:$A$28</c:f>
              <c:strCache>
                <c:ptCount val="2"/>
                <c:pt idx="0">
                  <c:v>Dyeing</c:v>
                </c:pt>
                <c:pt idx="1">
                  <c:v>FINISHING</c:v>
                </c:pt>
              </c:strCache>
            </c:strRef>
          </c:cat>
          <c:val>
            <c:numRef>
              <c:f>Sheet6!$C$26:$C$28</c:f>
              <c:numCache>
                <c:formatCode>General</c:formatCode>
                <c:ptCount val="2"/>
                <c:pt idx="0">
                  <c:v>140388.88000000012</c:v>
                </c:pt>
                <c:pt idx="1">
                  <c:v>667.84999999999991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385-46E1-BF5C-DC8EFA9B43F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482437857032571"/>
          <c:y val="0.42447978070193576"/>
          <c:w val="0.21046973907673305"/>
          <c:h val="0.439986045671469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/>
              <a:t>REPROCESS</a:t>
            </a:r>
            <a:r>
              <a:rPr lang="en-IN" sz="1800" b="1" baseline="0"/>
              <a:t> DUE TO DYEING</a:t>
            </a:r>
            <a:endParaRPr lang="en-IN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4509803921568627E-3"/>
          <c:y val="0.21083101335727081"/>
          <c:w val="0.58775262467191602"/>
          <c:h val="0.69989943323180137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4AA-42B4-8570-E2CBF5E90F0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4AA-42B4-8570-E2CBF5E90F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4AA-42B4-8570-E2CBF5E90F05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F6433A6-BA51-477A-81D1-3030F76F5CA9}" type="PERCENTAGE">
                      <a:rPr lang="en-US" sz="1200" baseline="0">
                        <a:solidFill>
                          <a:schemeClr val="tx1"/>
                        </a:solidFill>
                      </a:rPr>
                      <a:pPr>
                        <a:defRPr sz="1200"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4AA-42B4-8570-E2CBF5E90F05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aseline="0">
                        <a:solidFill>
                          <a:schemeClr val="tx1"/>
                        </a:solidFill>
                      </a:rPr>
                      <a:t> </a:t>
                    </a:r>
                    <a:fld id="{A2D4A1A4-4AFB-4ED0-9154-B96D04C29565}" type="PERCENTAGE">
                      <a:rPr lang="en-US" sz="1200" baseline="0">
                        <a:solidFill>
                          <a:schemeClr val="tx1"/>
                        </a:solidFill>
                      </a:rPr>
                      <a:pPr>
                        <a:defRPr sz="1200"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en-US" sz="1200" baseline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4AA-42B4-8570-E2CBF5E90F05}"/>
                </c:ext>
              </c:extLst>
            </c:dLbl>
            <c:dLbl>
              <c:idx val="2"/>
              <c:layout>
                <c:manualLayout>
                  <c:x val="0.14963626421697288"/>
                  <c:y val="0.2258216681248177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D6AC307-D3EC-4FAA-9592-21B08B80AA20}" type="PERCENTAGE">
                      <a:rPr lang="en-US" sz="1200" baseline="0">
                        <a:solidFill>
                          <a:schemeClr val="tx1"/>
                        </a:solidFill>
                      </a:rPr>
                      <a:pPr>
                        <a:defRPr sz="1200"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298622047244094"/>
                      <c:h val="0.1295603674540682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4AA-42B4-8570-E2CBF5E90F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Sheet6!$F$41:$F$43</c:f>
              <c:strCache>
                <c:ptCount val="3"/>
                <c:pt idx="0">
                  <c:v>AF COLOUR REJECT</c:v>
                </c:pt>
                <c:pt idx="1">
                  <c:v>R2R VARIATION</c:v>
                </c:pt>
                <c:pt idx="2">
                  <c:v>ABRASION MARK </c:v>
                </c:pt>
              </c:strCache>
            </c:strRef>
          </c:cat>
          <c:val>
            <c:numRef>
              <c:f>Sheet6!$G$41:$G$43</c:f>
              <c:numCache>
                <c:formatCode>General</c:formatCode>
                <c:ptCount val="3"/>
                <c:pt idx="0">
                  <c:v>12525</c:v>
                </c:pt>
                <c:pt idx="1">
                  <c:v>6374.9</c:v>
                </c:pt>
                <c:pt idx="2">
                  <c:v>5785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AA-42B4-8570-E2CBF5E90F0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3C809-DFE9-48BB-AE12-28A8888F77E7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29E20-6B43-4DB6-A634-7D78CA688E3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17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29E20-6B43-4DB6-A634-7D78CA688E30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710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29E20-6B43-4DB6-A634-7D78CA688E30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68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29E20-6B43-4DB6-A634-7D78CA688E3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191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29E20-6B43-4DB6-A634-7D78CA688E30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47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8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07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17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71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50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66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71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15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50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05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90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BA5CA-2BD5-4D7E-9880-B664CCD0A352}" type="datetimeFigureOut">
              <a:rPr lang="en-IN" smtClean="0"/>
              <a:t>30-04-2022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B00AB-CE99-4F71-9F76-F2A2D5450A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20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4A35-F35A-47D6-9238-186A9107A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REPROCESS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E99816-4A58-4F74-974B-1CA0626DD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6D90A-B740-42C4-AB8F-4AAFDF791FE9}"/>
              </a:ext>
            </a:extLst>
          </p:cNvPr>
          <p:cNvSpPr/>
          <p:nvPr/>
        </p:nvSpPr>
        <p:spPr>
          <a:xfrm>
            <a:off x="234176" y="200722"/>
            <a:ext cx="11753385" cy="6434254"/>
          </a:xfrm>
          <a:prstGeom prst="rect">
            <a:avLst/>
          </a:prstGeom>
          <a:solidFill>
            <a:schemeClr val="lt1">
              <a:alpha val="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619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21C1-E0E0-46E9-8001-1325BED5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WISE FABRIC REPROCESS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(FOR MONTH OF MARCH)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11">
            <a:extLst>
              <a:ext uri="{FF2B5EF4-FFF2-40B4-BE49-F238E27FC236}">
                <a16:creationId xmlns:a16="http://schemas.microsoft.com/office/drawing/2014/main" id="{BB377567-FA60-477B-B9F1-E559496391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733238"/>
              </p:ext>
            </p:extLst>
          </p:nvPr>
        </p:nvGraphicFramePr>
        <p:xfrm>
          <a:off x="5577840" y="2811780"/>
          <a:ext cx="5775960" cy="33651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0001D0-0332-4B7C-A3BD-46B662866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814419"/>
              </p:ext>
            </p:extLst>
          </p:nvPr>
        </p:nvGraphicFramePr>
        <p:xfrm>
          <a:off x="838200" y="2705509"/>
          <a:ext cx="4540986" cy="3620044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1198973">
                  <a:extLst>
                    <a:ext uri="{9D8B030D-6E8A-4147-A177-3AD203B41FA5}">
                      <a16:colId xmlns:a16="http://schemas.microsoft.com/office/drawing/2014/main" val="3671915797"/>
                    </a:ext>
                  </a:extLst>
                </a:gridCol>
                <a:gridCol w="1586612">
                  <a:extLst>
                    <a:ext uri="{9D8B030D-6E8A-4147-A177-3AD203B41FA5}">
                      <a16:colId xmlns:a16="http://schemas.microsoft.com/office/drawing/2014/main" val="329958419"/>
                    </a:ext>
                  </a:extLst>
                </a:gridCol>
                <a:gridCol w="1755401">
                  <a:extLst>
                    <a:ext uri="{9D8B030D-6E8A-4147-A177-3AD203B41FA5}">
                      <a16:colId xmlns:a16="http://schemas.microsoft.com/office/drawing/2014/main" val="237640493"/>
                    </a:ext>
                  </a:extLst>
                </a:gridCol>
              </a:tblGrid>
              <a:tr h="8891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DEPARTMENT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KG’S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600" b="1" u="none" strike="noStrike" dirty="0">
                          <a:effectLst/>
                        </a:rPr>
                        <a:t>MTRS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30851064"/>
                  </a:ext>
                </a:extLst>
              </a:tr>
              <a:tr h="5393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dyeing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33379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118702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4431495"/>
                  </a:ext>
                </a:extLst>
              </a:tr>
              <a:tr h="5393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knitting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12381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49204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5769545"/>
                  </a:ext>
                </a:extLst>
              </a:tr>
              <a:tr h="5393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finishing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12126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44802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88666830"/>
                  </a:ext>
                </a:extLst>
              </a:tr>
              <a:tr h="5393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Printing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7485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29384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5492815"/>
                  </a:ext>
                </a:extLst>
              </a:tr>
              <a:tr h="5734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Grand 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65370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242093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0046044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7D54004-4DA5-4E84-AF09-73E17DA43C71}"/>
              </a:ext>
            </a:extLst>
          </p:cNvPr>
          <p:cNvSpPr/>
          <p:nvPr/>
        </p:nvSpPr>
        <p:spPr>
          <a:xfrm>
            <a:off x="138708" y="156187"/>
            <a:ext cx="11914584" cy="6545625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95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7F36-BDB9-4870-AD9B-F06AD2F9D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DYEING REPROCESS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010B3AE-39F8-42E4-9292-74720D05B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780547"/>
              </p:ext>
            </p:extLst>
          </p:nvPr>
        </p:nvGraphicFramePr>
        <p:xfrm>
          <a:off x="5897880" y="2000250"/>
          <a:ext cx="5455920" cy="4251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C49257-FC99-4BFA-BCB5-22D61FAA2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866882"/>
              </p:ext>
            </p:extLst>
          </p:nvPr>
        </p:nvGraphicFramePr>
        <p:xfrm>
          <a:off x="1051560" y="2994660"/>
          <a:ext cx="4171950" cy="278320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97428">
                  <a:extLst>
                    <a:ext uri="{9D8B030D-6E8A-4147-A177-3AD203B41FA5}">
                      <a16:colId xmlns:a16="http://schemas.microsoft.com/office/drawing/2014/main" val="3987592849"/>
                    </a:ext>
                  </a:extLst>
                </a:gridCol>
                <a:gridCol w="1074522">
                  <a:extLst>
                    <a:ext uri="{9D8B030D-6E8A-4147-A177-3AD203B41FA5}">
                      <a16:colId xmlns:a16="http://schemas.microsoft.com/office/drawing/2014/main" val="3808043389"/>
                    </a:ext>
                  </a:extLst>
                </a:gridCol>
              </a:tblGrid>
              <a:tr h="93771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u="none" strike="noStrike" dirty="0">
                          <a:effectLst/>
                        </a:rPr>
                        <a:t>DYEING FAULTS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u="none" strike="noStrike" dirty="0">
                          <a:effectLst/>
                        </a:rPr>
                        <a:t>KGS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22561081"/>
                  </a:ext>
                </a:extLst>
              </a:tr>
              <a:tr h="7381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AF COLOR REJECT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>
                          <a:effectLst/>
                        </a:rPr>
                        <a:t>10804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1791314"/>
                  </a:ext>
                </a:extLst>
              </a:tr>
              <a:tr h="7381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ABRATION MARK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10497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58369592"/>
                  </a:ext>
                </a:extLst>
              </a:tr>
              <a:tr h="36909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R2R VARATION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4836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28442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731F5D8-33EC-41F6-B0A4-75DEDA3290B5}"/>
              </a:ext>
            </a:extLst>
          </p:cNvPr>
          <p:cNvSpPr/>
          <p:nvPr/>
        </p:nvSpPr>
        <p:spPr>
          <a:xfrm>
            <a:off x="243070" y="142503"/>
            <a:ext cx="11751008" cy="6590805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33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367B-E9A0-4ECB-B78A-00BFDB2BE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4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</a:rPr>
              <a:t>Break-down of Reprocess Due to After Colour Rejection</a:t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4000" dirty="0">
                <a:solidFill>
                  <a:srgbClr val="FF0000"/>
                </a:solidFill>
              </a:rPr>
              <a:t> (According to Fabric Construction )</a:t>
            </a:r>
            <a:br>
              <a:rPr lang="en-IN" sz="4000" dirty="0">
                <a:solidFill>
                  <a:srgbClr val="FF0000"/>
                </a:solidFill>
              </a:rPr>
            </a:br>
            <a:endParaRPr lang="en-IN" sz="40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83960D-968A-418E-8530-AD7E67687E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329356"/>
              </p:ext>
            </p:extLst>
          </p:nvPr>
        </p:nvGraphicFramePr>
        <p:xfrm>
          <a:off x="5650029" y="1490329"/>
          <a:ext cx="6448927" cy="4738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5AF1B9-C134-4D36-861E-18DBDBBE6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882055"/>
              </p:ext>
            </p:extLst>
          </p:nvPr>
        </p:nvGraphicFramePr>
        <p:xfrm>
          <a:off x="573105" y="1219417"/>
          <a:ext cx="5342020" cy="552031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663720">
                  <a:extLst>
                    <a:ext uri="{9D8B030D-6E8A-4147-A177-3AD203B41FA5}">
                      <a16:colId xmlns:a16="http://schemas.microsoft.com/office/drawing/2014/main" val="3702197336"/>
                    </a:ext>
                  </a:extLst>
                </a:gridCol>
                <a:gridCol w="1678300">
                  <a:extLst>
                    <a:ext uri="{9D8B030D-6E8A-4147-A177-3AD203B41FA5}">
                      <a16:colId xmlns:a16="http://schemas.microsoft.com/office/drawing/2014/main" val="3245554847"/>
                    </a:ext>
                  </a:extLst>
                </a:gridCol>
              </a:tblGrid>
              <a:tr h="2219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FABRIC CONSTRUCTION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KGS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89878221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SJ 40S/1 SUP + 30D DYEABLE SPN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1119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51232697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SJ 40S/1 SUPIMA  CTN (AMBIKA) + 30D DYEABLE SPN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1094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29813632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SINGLE JERSEY 30S/1 100% SUPIMA CTN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955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5563881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SJ 40S/1 BCI SUPIMA COTTON  + 20D LYCRA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941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136841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SJ 40S/1 SUPIMA  CTN (AMBIKA) + 30D DYEABLE SPN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787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88825004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SJ 40S/1 SIRO COMPACT BAMBOO/CTN(70/30) + 20D SPN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552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78190108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SJ 40S/1 COMP CTN+ 20D DYEABLE SPN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475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81631144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30S/1 BCI + 70D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462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00421310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40S/1 CI CTN + 20D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448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4033140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SJ 32S/1 SIRO COMPACT LEN MODAL + 40D SPN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354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6709225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30S/1 BCI + 70D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299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41924469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RIB 1X1 30S/1 BCI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298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01997931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RIB 1X1 30S/1 BCI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224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67803048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RIB 1X1 30S/1 BCI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220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0835453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32S/1 FC + 30D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211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20800956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SJ 40S/1 SUP + 30D DYEABLE SPN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192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6549826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sv-SE" sz="800" u="none" strike="noStrike" dirty="0">
                          <a:effectLst/>
                        </a:rPr>
                        <a:t>SJ 32S/1 ORG CTN + 30D LYCRA</a:t>
                      </a:r>
                      <a:endParaRPr lang="sv-S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180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3644025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SJ 30S/1 100%CMIA + 40D LOW SET LYCRA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172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86227702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RIB 1X1 30S/1 BCI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169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3488288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40S/1 BCI CTN + 20D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169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3011011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RIB 1X1 30S/1 BCI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151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02155333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SJ 40S/1 BCI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150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34575146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u="none" strike="noStrike" dirty="0">
                          <a:effectLst/>
                        </a:rPr>
                        <a:t>RIB 2X2 40S/1 100% CMIA CTN + 20D LYCRA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139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8222816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SJ 32S/1 BCI COMPACT CTN + 30D SPN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134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75608888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40S/1 BCI CTN + 20D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104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75798247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SINGLE JERSEY 30S/1 100% SUPIMA CTN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97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84283137"/>
                  </a:ext>
                </a:extLst>
              </a:tr>
              <a:tr h="308234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40S/1 100% BCI + 40D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87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99582856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Plated SJ1/38Ne </a:t>
                      </a:r>
                      <a:r>
                        <a:rPr lang="en-IN" sz="800" u="none" strike="noStrike" dirty="0" err="1">
                          <a:effectLst/>
                        </a:rPr>
                        <a:t>RSCtn</a:t>
                      </a:r>
                      <a:r>
                        <a:rPr lang="en-IN" sz="800" u="none" strike="noStrike" dirty="0">
                          <a:effectLst/>
                        </a:rPr>
                        <a:t>/</a:t>
                      </a:r>
                      <a:r>
                        <a:rPr lang="en-IN" sz="800" u="none" strike="noStrike" dirty="0" err="1">
                          <a:effectLst/>
                        </a:rPr>
                        <a:t>Orgctn</a:t>
                      </a:r>
                      <a:r>
                        <a:rPr lang="en-IN" sz="800" u="none" strike="noStrike" dirty="0">
                          <a:effectLst/>
                        </a:rPr>
                        <a:t> 90/10+1/75Den72FRec+40D BL SPN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78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82418609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SJ 30S/1 CMIA COMPACT CTN + 30D LYCRA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77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9474648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SINGLE JERSEY 30S/1 100% SUPIMA CTN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68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23605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SINGLE JERSEY 30S/1 100% SUPIMA CTN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53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10988264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u="none" strike="noStrike" dirty="0">
                          <a:effectLst/>
                        </a:rPr>
                        <a:t>SJ 40S/1 CMIA CTN + 20D LYCRA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44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31007549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SINGLE JERSEY 30S/1 100% SUPIMA CTN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32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94218370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40S/1 BCI CTN + 20D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23113429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SINGLE JERSEY 30S/1 100% SUPIMA CTN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37111925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SJ 40S/1 BCI CTN + 20D SPN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98834374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RIB 1X1 30S/1 BCI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5696664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SINGLE JERSEY 30S/1 100% SUPIMA CTN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22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53031166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pl-PL" sz="800" u="none" strike="noStrike" dirty="0">
                          <a:effectLst/>
                        </a:rPr>
                        <a:t>RIB 1X1 30S/1 BCI</a:t>
                      </a:r>
                      <a:endParaRPr lang="pl-P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16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68392291"/>
                  </a:ext>
                </a:extLst>
              </a:tr>
              <a:tr h="1109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u="none" strike="noStrike" dirty="0">
                          <a:effectLst/>
                        </a:rPr>
                        <a:t>SJ 40S/1 FC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u="none" strike="noStrike" dirty="0">
                          <a:effectLst/>
                        </a:rPr>
                        <a:t>8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85034420"/>
                  </a:ext>
                </a:extLst>
              </a:tr>
              <a:tr h="1942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10804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189749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358EC2C-F964-4A6E-BBF5-29096D55C4C5}"/>
              </a:ext>
            </a:extLst>
          </p:cNvPr>
          <p:cNvSpPr/>
          <p:nvPr/>
        </p:nvSpPr>
        <p:spPr>
          <a:xfrm>
            <a:off x="1787090" y="7601193"/>
            <a:ext cx="11906449" cy="6574772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89ED5-C6F0-47AD-B130-1DD0D371CB91}"/>
              </a:ext>
            </a:extLst>
          </p:cNvPr>
          <p:cNvSpPr/>
          <p:nvPr/>
        </p:nvSpPr>
        <p:spPr>
          <a:xfrm>
            <a:off x="192506" y="118269"/>
            <a:ext cx="11906449" cy="6621462"/>
          </a:xfrm>
          <a:prstGeom prst="rect">
            <a:avLst/>
          </a:prstGeom>
          <a:solidFill>
            <a:schemeClr val="lt1">
              <a:alpha val="1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61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8A35-268C-4C30-9B46-7CBDEB11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Break-down of Reprocess due to After Colour Rejection</a:t>
            </a:r>
            <a:br>
              <a:rPr lang="en-IN" sz="3600" dirty="0">
                <a:solidFill>
                  <a:srgbClr val="FF0000"/>
                </a:solidFill>
              </a:rPr>
            </a:br>
            <a:r>
              <a:rPr lang="en-IN" sz="3600" dirty="0">
                <a:solidFill>
                  <a:srgbClr val="FF0000"/>
                </a:solidFill>
              </a:rPr>
              <a:t>(According to Colour code)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21CD720-A013-4CAC-935B-A2B0C32B238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15389230"/>
              </p:ext>
            </p:extLst>
          </p:nvPr>
        </p:nvGraphicFramePr>
        <p:xfrm>
          <a:off x="958745" y="1516518"/>
          <a:ext cx="4947385" cy="515963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21235">
                  <a:extLst>
                    <a:ext uri="{9D8B030D-6E8A-4147-A177-3AD203B41FA5}">
                      <a16:colId xmlns:a16="http://schemas.microsoft.com/office/drawing/2014/main" val="659528102"/>
                    </a:ext>
                  </a:extLst>
                </a:gridCol>
                <a:gridCol w="2126150">
                  <a:extLst>
                    <a:ext uri="{9D8B030D-6E8A-4147-A177-3AD203B41FA5}">
                      <a16:colId xmlns:a16="http://schemas.microsoft.com/office/drawing/2014/main" val="603933755"/>
                    </a:ext>
                  </a:extLst>
                </a:gridCol>
              </a:tblGrid>
              <a:tr h="2149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COLOUR CODE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KGS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980848202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BLACK    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2397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1205543205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WHITE    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2147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506095941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NAVY     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2056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931339784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BLACK 09I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955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1679561779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GOTHAM GREY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410788710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BURGUNDY 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423600600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BRIGHT WHITE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773863769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NAVY BLAZER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40573931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BLUE BELL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14492354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MINNOW   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635899628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WHITE-AS SAWTCH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328077525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CSI/A10 WHITE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468620320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SILVER LAKE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4184200136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MAJOLICA BLUE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825220297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NAVY 69D 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1048355065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TRUMPH WHITE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1191749175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OMBRE BLUE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623425587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BLUE     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970351734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BLUE 62Q 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1467621971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NATURAL  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23853811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ACTIVE BLUE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447702296"/>
                  </a:ext>
                </a:extLst>
              </a:tr>
              <a:tr h="17729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GREEN         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1170802036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PYRO BLUE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440917730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ZEN GREEN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931919052"/>
                  </a:ext>
                </a:extLst>
              </a:tr>
              <a:tr h="17729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BLUE 66AG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926749279"/>
                  </a:ext>
                </a:extLst>
              </a:tr>
              <a:tr h="1698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TRUE BLUE     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16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115495465"/>
                  </a:ext>
                </a:extLst>
              </a:tr>
              <a:tr h="224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u="none" strike="noStrike" dirty="0">
                          <a:effectLst/>
                        </a:rPr>
                        <a:t>WNTR WINE 21P9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u="none" strike="noStrike" dirty="0">
                          <a:effectLst/>
                        </a:rPr>
                        <a:t>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4125519169"/>
                  </a:ext>
                </a:extLst>
              </a:tr>
              <a:tr h="17729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10804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2784873560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A18414-56D5-43D2-8AF5-3CC4311B83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5012006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2A7DF6A-5748-40E0-9934-7593CB17F88B}"/>
              </a:ext>
            </a:extLst>
          </p:cNvPr>
          <p:cNvSpPr/>
          <p:nvPr/>
        </p:nvSpPr>
        <p:spPr>
          <a:xfrm>
            <a:off x="730718" y="6451918"/>
            <a:ext cx="12028713" cy="6578177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A57460-5735-43C2-BB15-B0D66E213D52}"/>
              </a:ext>
            </a:extLst>
          </p:cNvPr>
          <p:cNvSpPr/>
          <p:nvPr/>
        </p:nvSpPr>
        <p:spPr>
          <a:xfrm>
            <a:off x="328004" y="181852"/>
            <a:ext cx="11732452" cy="6578177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86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4722-DFAC-4C70-8BB9-6E07ED36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IN" dirty="0" err="1">
                <a:solidFill>
                  <a:srgbClr val="FF0000"/>
                </a:solidFill>
              </a:rPr>
              <a:t>nitting</a:t>
            </a:r>
            <a:r>
              <a:rPr lang="en-IN" dirty="0">
                <a:solidFill>
                  <a:srgbClr val="FF0000"/>
                </a:solidFill>
              </a:rPr>
              <a:t> Reprocess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5A74635-4919-47D4-B6FC-9F4DF45292C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78931115"/>
              </p:ext>
            </p:extLst>
          </p:nvPr>
        </p:nvGraphicFramePr>
        <p:xfrm>
          <a:off x="1549667" y="2165684"/>
          <a:ext cx="3801979" cy="245444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782454">
                  <a:extLst>
                    <a:ext uri="{9D8B030D-6E8A-4147-A177-3AD203B41FA5}">
                      <a16:colId xmlns:a16="http://schemas.microsoft.com/office/drawing/2014/main" val="429617650"/>
                    </a:ext>
                  </a:extLst>
                </a:gridCol>
                <a:gridCol w="1019525">
                  <a:extLst>
                    <a:ext uri="{9D8B030D-6E8A-4147-A177-3AD203B41FA5}">
                      <a16:colId xmlns:a16="http://schemas.microsoft.com/office/drawing/2014/main" val="2145207740"/>
                    </a:ext>
                  </a:extLst>
                </a:gridCol>
              </a:tblGrid>
              <a:tr h="48421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KNITTING FAULTS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KGS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84700492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OIL LINE      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1999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5526479"/>
                  </a:ext>
                </a:extLst>
              </a:tr>
              <a:tr h="48421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HOLES         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970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0880409"/>
                  </a:ext>
                </a:extLst>
              </a:tr>
              <a:tr h="48421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BARRE         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734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46144027"/>
                  </a:ext>
                </a:extLst>
              </a:tr>
              <a:tr h="484210">
                <a:tc>
                  <a:txBody>
                    <a:bodyPr/>
                    <a:lstStyle/>
                    <a:p>
                      <a:pPr algn="ctr" fontAlgn="b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13214703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203D2-0CD1-4955-B1B3-7C168A2AC8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CD23E19-678E-4C31-BABE-42366D83BD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9061237"/>
              </p:ext>
            </p:extLst>
          </p:nvPr>
        </p:nvGraphicFramePr>
        <p:xfrm>
          <a:off x="6246796" y="1825625"/>
          <a:ext cx="5259404" cy="4503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046BA56-621A-40E5-971D-52A2D2BBCC56}"/>
              </a:ext>
            </a:extLst>
          </p:cNvPr>
          <p:cNvSpPr/>
          <p:nvPr/>
        </p:nvSpPr>
        <p:spPr>
          <a:xfrm>
            <a:off x="3788229" y="365125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6D6409-BEBE-4928-A1A3-C8844D05D83C}"/>
              </a:ext>
            </a:extLst>
          </p:cNvPr>
          <p:cNvSpPr/>
          <p:nvPr/>
        </p:nvSpPr>
        <p:spPr>
          <a:xfrm>
            <a:off x="195943" y="108857"/>
            <a:ext cx="11835636" cy="664028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847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BDA4-21FA-470A-BD76-6F810833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53"/>
            <a:ext cx="10515600" cy="159443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</a:rPr>
              <a:t>Break-down of Reprocess Due to Oil Line</a:t>
            </a:r>
            <a:br>
              <a:rPr lang="en-IN" sz="4400" dirty="0">
                <a:solidFill>
                  <a:srgbClr val="FF0000"/>
                </a:solidFill>
              </a:rPr>
            </a:br>
            <a:r>
              <a:rPr lang="en-IN" sz="4400" dirty="0">
                <a:solidFill>
                  <a:srgbClr val="FF0000"/>
                </a:solidFill>
              </a:rPr>
              <a:t> (According to Fabric Construction )</a:t>
            </a:r>
            <a:br>
              <a:rPr lang="en-IN" sz="4400" dirty="0">
                <a:solidFill>
                  <a:srgbClr val="FF0000"/>
                </a:solidFill>
              </a:rPr>
            </a:b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4B6C08C-2344-4AAC-B826-47CD268FE94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3711865"/>
              </p:ext>
            </p:extLst>
          </p:nvPr>
        </p:nvGraphicFramePr>
        <p:xfrm>
          <a:off x="1183907" y="2029619"/>
          <a:ext cx="4340993" cy="39903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76928">
                  <a:extLst>
                    <a:ext uri="{9D8B030D-6E8A-4147-A177-3AD203B41FA5}">
                      <a16:colId xmlns:a16="http://schemas.microsoft.com/office/drawing/2014/main" val="1207637463"/>
                    </a:ext>
                  </a:extLst>
                </a:gridCol>
                <a:gridCol w="1164065">
                  <a:extLst>
                    <a:ext uri="{9D8B030D-6E8A-4147-A177-3AD203B41FA5}">
                      <a16:colId xmlns:a16="http://schemas.microsoft.com/office/drawing/2014/main" val="7601137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u="none" strike="noStrike" dirty="0">
                          <a:effectLst/>
                        </a:rPr>
                        <a:t>FABRIC CONSTRUCTION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u="none" strike="noStrike" dirty="0">
                          <a:effectLst/>
                        </a:rPr>
                        <a:t>KGS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5595137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pl-PL" sz="1200" u="none" strike="noStrike">
                          <a:effectLst/>
                        </a:rPr>
                        <a:t>SJ 40S/1 BCI CTN + 20D SPN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507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037434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rtl="0" fontAlgn="b"/>
                      <a:r>
                        <a:rPr lang="pl-PL" sz="1200" u="none" strike="noStrike">
                          <a:effectLst/>
                        </a:rPr>
                        <a:t>RIB 1X1 30S/1 BCI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490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71097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rtl="0" fontAlgn="b"/>
                      <a:r>
                        <a:rPr lang="pl-PL" sz="1200" u="none" strike="noStrike">
                          <a:effectLst/>
                        </a:rPr>
                        <a:t>RIB 1X1 30S/1 BCI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459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102942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</a:rPr>
                        <a:t>SJ 28S/1 100% COMPACT CTN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169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2886555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pl-PL" sz="1200" u="none" strike="noStrike">
                          <a:effectLst/>
                        </a:rPr>
                        <a:t>SJ 40S/1 BCI CTN + 20D SPN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132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679178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SJ 32S/1 100% CMIA CTN + 30D LYCRA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123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277747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</a:rPr>
                        <a:t>SJ 30S/1 CMIA COTTON + 30D SPN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339178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pl-PL" sz="1200" u="none" strike="noStrike">
                          <a:effectLst/>
                        </a:rPr>
                        <a:t>SJ 40S/1 BCI CTN + 20D SPN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u="none" strike="noStrike">
                          <a:effectLst/>
                        </a:rPr>
                        <a:t>21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5779233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pl-PL" sz="1100" b="0" u="none" strike="noStrike" dirty="0">
                          <a:effectLst/>
                        </a:rPr>
                        <a:t>SJ 40S/1 BCI CTN + 20D SPN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u="none" strike="noStrike" dirty="0">
                          <a:effectLst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4882345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u="none" strike="noStrike" dirty="0">
                          <a:effectLst/>
                        </a:rPr>
                        <a:t>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1999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5482892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E86B60-B12B-456F-92A6-0D6ADBDEFD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2179559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D5E2454-0014-4BBA-8EF8-A0722CACB4E1}"/>
              </a:ext>
            </a:extLst>
          </p:cNvPr>
          <p:cNvSpPr/>
          <p:nvPr/>
        </p:nvSpPr>
        <p:spPr>
          <a:xfrm>
            <a:off x="112035" y="96254"/>
            <a:ext cx="11967929" cy="6665494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29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990E-CE9F-4114-94A8-81FFFED67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7002"/>
            <a:ext cx="10515600" cy="2059805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</a:rPr>
              <a:t>Break-down of Reprocess Due to Oil Line</a:t>
            </a:r>
            <a:br>
              <a:rPr lang="en-IN" sz="4400" dirty="0">
                <a:solidFill>
                  <a:srgbClr val="FF0000"/>
                </a:solidFill>
              </a:rPr>
            </a:br>
            <a:r>
              <a:rPr lang="en-IN" sz="4400" dirty="0">
                <a:solidFill>
                  <a:srgbClr val="FF0000"/>
                </a:solidFill>
              </a:rPr>
              <a:t> (According to Colour Code )</a:t>
            </a:r>
            <a:br>
              <a:rPr lang="en-IN" sz="4400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7B789-8137-4DC8-B533-6CED18C9C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16C54FD-D82B-4942-B18F-C4CE474166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08634822"/>
              </p:ext>
            </p:extLst>
          </p:nvPr>
        </p:nvGraphicFramePr>
        <p:xfrm>
          <a:off x="1328286" y="2879517"/>
          <a:ext cx="3667225" cy="293570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83835">
                  <a:extLst>
                    <a:ext uri="{9D8B030D-6E8A-4147-A177-3AD203B41FA5}">
                      <a16:colId xmlns:a16="http://schemas.microsoft.com/office/drawing/2014/main" val="145792890"/>
                    </a:ext>
                  </a:extLst>
                </a:gridCol>
                <a:gridCol w="983390">
                  <a:extLst>
                    <a:ext uri="{9D8B030D-6E8A-4147-A177-3AD203B41FA5}">
                      <a16:colId xmlns:a16="http://schemas.microsoft.com/office/drawing/2014/main" val="394976218"/>
                    </a:ext>
                  </a:extLst>
                </a:gridCol>
              </a:tblGrid>
              <a:tr h="4499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COLOUR CODE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KGS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5677905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BLACK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1170366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ARMY GREEN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22641631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WHITE-AS SAWTCH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459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2015599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BLACK BEAUTY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169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9122527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PEACOAT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132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50695781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BLACK-7142568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123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06768640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effectLst/>
                        </a:rPr>
                        <a:t>COBALT SAPPHIRE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effectLst/>
                        </a:rPr>
                        <a:t>14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8802682"/>
                  </a:ext>
                </a:extLst>
              </a:tr>
              <a:tr h="3107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1999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35142269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B1CC5-740D-42C1-AD4E-A3F416DEB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048CAAA-BDFC-4D3C-BCE4-814806AB347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038821015"/>
              </p:ext>
            </p:extLst>
          </p:nvPr>
        </p:nvGraphicFramePr>
        <p:xfrm>
          <a:off x="6172200" y="2367815"/>
          <a:ext cx="5183188" cy="3821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65C7217-BE69-4B68-91B0-3BA27E9E5AD0}"/>
              </a:ext>
            </a:extLst>
          </p:cNvPr>
          <p:cNvSpPr/>
          <p:nvPr/>
        </p:nvSpPr>
        <p:spPr>
          <a:xfrm>
            <a:off x="179615" y="77002"/>
            <a:ext cx="11909716" cy="670399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7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F322-DF4F-4A3F-A07E-01766E03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FINISHING REPROCESS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6077A-4999-40F1-BEA4-69C8D9474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F0464F2-C502-4158-9363-50B4660C63C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80679859"/>
              </p:ext>
            </p:extLst>
          </p:nvPr>
        </p:nvGraphicFramePr>
        <p:xfrm>
          <a:off x="1026160" y="3006726"/>
          <a:ext cx="4511040" cy="267271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519182">
                  <a:extLst>
                    <a:ext uri="{9D8B030D-6E8A-4147-A177-3AD203B41FA5}">
                      <a16:colId xmlns:a16="http://schemas.microsoft.com/office/drawing/2014/main" val="1659797104"/>
                    </a:ext>
                  </a:extLst>
                </a:gridCol>
                <a:gridCol w="2991858">
                  <a:extLst>
                    <a:ext uri="{9D8B030D-6E8A-4147-A177-3AD203B41FA5}">
                      <a16:colId xmlns:a16="http://schemas.microsoft.com/office/drawing/2014/main" val="531971415"/>
                    </a:ext>
                  </a:extLst>
                </a:gridCol>
              </a:tblGrid>
              <a:tr h="66817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</a:rPr>
                        <a:t>FINISHING</a:t>
                      </a:r>
                      <a:endParaRPr lang="en-IN" sz="2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</a:rPr>
                        <a:t>KGS</a:t>
                      </a:r>
                      <a:endParaRPr lang="en-IN" sz="2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6205574"/>
                  </a:ext>
                </a:extLst>
              </a:tr>
              <a:tr h="66817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NARROW WIDTH 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1619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4593550"/>
                  </a:ext>
                </a:extLst>
              </a:tr>
              <a:tr h="66817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DIRTY MARK   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1375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91276195"/>
                  </a:ext>
                </a:extLst>
              </a:tr>
              <a:tr h="66817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COMPACT MARK 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1356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9874114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CF83C-0AC0-44E7-A059-87DC5E9D7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80A2755-DE4C-4D6B-A27C-4F3E71B7FCF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179712097"/>
              </p:ext>
            </p:extLst>
          </p:nvPr>
        </p:nvGraphicFramePr>
        <p:xfrm>
          <a:off x="6172200" y="2367280"/>
          <a:ext cx="5183188" cy="3822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6DE9A59-CD33-4348-883A-573D8C73AF2C}"/>
              </a:ext>
            </a:extLst>
          </p:cNvPr>
          <p:cNvSpPr/>
          <p:nvPr/>
        </p:nvSpPr>
        <p:spPr>
          <a:xfrm>
            <a:off x="152400" y="138520"/>
            <a:ext cx="11887200" cy="6580959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8663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2ADF-8546-4FDB-B5BC-F28E65725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2080"/>
            <a:ext cx="10515600" cy="15586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</a:rPr>
              <a:t>Break-down of Reprocess Due to NARROW WIDTH</a:t>
            </a:r>
            <a:br>
              <a:rPr lang="en-IN" sz="4400" dirty="0">
                <a:solidFill>
                  <a:srgbClr val="FF0000"/>
                </a:solidFill>
              </a:rPr>
            </a:br>
            <a:r>
              <a:rPr lang="en-IN" sz="4400" dirty="0">
                <a:solidFill>
                  <a:srgbClr val="FF0000"/>
                </a:solidFill>
              </a:rPr>
              <a:t> (According to Fabric Construction )</a:t>
            </a:r>
            <a:br>
              <a:rPr lang="en-IN" sz="4400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6943F-36F6-4795-883D-922FC2DB2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AD271F5C-4E81-403C-AF61-3C13B4039CD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70198579"/>
              </p:ext>
            </p:extLst>
          </p:nvPr>
        </p:nvGraphicFramePr>
        <p:xfrm>
          <a:off x="324803" y="1435837"/>
          <a:ext cx="5847397" cy="521145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64843">
                  <a:extLst>
                    <a:ext uri="{9D8B030D-6E8A-4147-A177-3AD203B41FA5}">
                      <a16:colId xmlns:a16="http://schemas.microsoft.com/office/drawing/2014/main" val="3715988569"/>
                    </a:ext>
                  </a:extLst>
                </a:gridCol>
                <a:gridCol w="2782554">
                  <a:extLst>
                    <a:ext uri="{9D8B030D-6E8A-4147-A177-3AD203B41FA5}">
                      <a16:colId xmlns:a16="http://schemas.microsoft.com/office/drawing/2014/main" val="2324648346"/>
                    </a:ext>
                  </a:extLst>
                </a:gridCol>
              </a:tblGrid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FABRIC CONSTRUCTION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KGS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1952858525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SJ 30S/1 CMIA COTTON + 30D SPN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246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3612977602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SJ 30S/1 CMIA COMPACT CTN + 30D LYCRA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212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342720124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SJ 32S/1 100% CMIA CTN + 30D LYCRA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192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3301337492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 dirty="0">
                          <a:effectLst/>
                        </a:rPr>
                        <a:t>SJ 40S/1 BCI CTN + 20D SPN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117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049291945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 dirty="0">
                          <a:effectLst/>
                        </a:rPr>
                        <a:t>SJ 40S/1 BCI CTN + 20D SPN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86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386552518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SJ 40S/1 BCI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77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94534872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SJ 32S/1 100% CMIA CTN + 30D LYCRA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75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702525683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>
                          <a:effectLst/>
                        </a:rPr>
                        <a:t>SJ 40S/1 BCI CTN + 20D SPN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3052749121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SJ 40S/1 COMP CTN+ 20D DYEABLE SPN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70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1094555291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SJ 30S/1 CMIA COMPACT CTN + 30D LYCRA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3001327477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 dirty="0">
                          <a:effectLst/>
                        </a:rPr>
                        <a:t>SJ 40S/1 BCI CTN + 20D SPN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695425245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>
                          <a:effectLst/>
                        </a:rPr>
                        <a:t>SJ 40S/1 BCI CTN + 20D SPN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82200040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 dirty="0">
                          <a:effectLst/>
                        </a:rPr>
                        <a:t>SJ 40S/1 BCI CTN + 20D SPN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42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3645205014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SINGLE JERSEY 30S/1 100% SUPIMA CTN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38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4472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SJ 32S/1 100% CMIA CTN + 30D LYCRA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1819532960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 dirty="0">
                          <a:effectLst/>
                        </a:rPr>
                        <a:t>SJ 40S/1 BCI CTN + 20D SPN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33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965189255"/>
                  </a:ext>
                </a:extLst>
              </a:tr>
              <a:tr h="3484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SJ 40S/1 SIRO COMPACT BAMBOO/CTN(70/30) + 20D SPN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30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1815621914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SJ 32S/1 H SIRO COMPACT LEN MODAL + 40D SPN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073621015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SJ 40S/1 CMIA CTN + 20D LYCRA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083148895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SJ 32S/1 100% CMIA CTN + 30D LYCRA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1663383140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>
                          <a:effectLst/>
                        </a:rPr>
                        <a:t>SJ 40S/1 100% BCI + 40D SPN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610994416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u="none" strike="noStrike">
                          <a:effectLst/>
                        </a:rPr>
                        <a:t>SJ 40S/1 BCI CTN + 20D SPN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4259588718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SJ 40S/1 CMIA CTN + 20D LYCRA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2936106269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pl-PL" sz="1600" b="1" u="none" strike="noStrike" dirty="0">
                          <a:effectLst/>
                        </a:rPr>
                        <a:t>RIB 1X1 30S/1 BCI</a:t>
                      </a:r>
                      <a:endParaRPr lang="pl-PL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15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3587513464"/>
                  </a:ext>
                </a:extLst>
              </a:tr>
              <a:tr h="1878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1619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1" marR="4731" marT="4731" marB="0" anchor="b"/>
                </a:tc>
                <a:extLst>
                  <a:ext uri="{0D108BD9-81ED-4DB2-BD59-A6C34878D82A}">
                    <a16:rowId xmlns:a16="http://schemas.microsoft.com/office/drawing/2014/main" val="1492254413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B56C0-2839-4D4C-ABEE-726F03544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F9242DE0-224A-4C07-84F3-18C7FFEAAED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709488573"/>
              </p:ext>
            </p:extLst>
          </p:nvPr>
        </p:nvGraphicFramePr>
        <p:xfrm>
          <a:off x="6172200" y="2306320"/>
          <a:ext cx="5183188" cy="3883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07DAEAF-A510-4F3A-8522-BAEEA208FAB8}"/>
              </a:ext>
            </a:extLst>
          </p:cNvPr>
          <p:cNvSpPr/>
          <p:nvPr/>
        </p:nvSpPr>
        <p:spPr>
          <a:xfrm>
            <a:off x="100965" y="132080"/>
            <a:ext cx="11990069" cy="659384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825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A3ED-1ADE-4949-98D2-C495C69E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33681"/>
            <a:ext cx="10515600" cy="14570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</a:rPr>
              <a:t>Break-down of Reprocess Due to Narrow width</a:t>
            </a:r>
            <a:br>
              <a:rPr lang="en-IN" sz="4400" dirty="0">
                <a:solidFill>
                  <a:srgbClr val="FF0000"/>
                </a:solidFill>
              </a:rPr>
            </a:br>
            <a:r>
              <a:rPr lang="en-IN" sz="4400" dirty="0">
                <a:solidFill>
                  <a:srgbClr val="FF0000"/>
                </a:solidFill>
              </a:rPr>
              <a:t> (According to Colour Code )</a:t>
            </a:r>
            <a:br>
              <a:rPr lang="en-IN" sz="4400" dirty="0">
                <a:solidFill>
                  <a:srgbClr val="FF0000"/>
                </a:solidFill>
              </a:rPr>
            </a:b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E41B6-92EE-4EF1-826D-FD58B6548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1860513-BA70-4279-BB04-CABDCD38A81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4757941"/>
              </p:ext>
            </p:extLst>
          </p:nvPr>
        </p:nvGraphicFramePr>
        <p:xfrm>
          <a:off x="609600" y="1971040"/>
          <a:ext cx="5387975" cy="454966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37848">
                  <a:extLst>
                    <a:ext uri="{9D8B030D-6E8A-4147-A177-3AD203B41FA5}">
                      <a16:colId xmlns:a16="http://schemas.microsoft.com/office/drawing/2014/main" val="2123442200"/>
                    </a:ext>
                  </a:extLst>
                </a:gridCol>
                <a:gridCol w="3550127">
                  <a:extLst>
                    <a:ext uri="{9D8B030D-6E8A-4147-A177-3AD203B41FA5}">
                      <a16:colId xmlns:a16="http://schemas.microsoft.com/office/drawing/2014/main" val="1728420534"/>
                    </a:ext>
                  </a:extLst>
                </a:gridCol>
              </a:tblGrid>
              <a:tr h="2479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COLOUR CODE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KGS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3651068076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BLACK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630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3738598416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ESTATE BLUE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192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1181779152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WHITE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121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2022247937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COBALT SAPPHIRE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1037068157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ARMY GREEN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86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1127744832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DARK GREY/08C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70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88551771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SILVER LAKE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4283163055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WARM SAND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2029524778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JOLLY GREN BEAN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3391942234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BLACK 09I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38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170435133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BLACK-7142568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35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1900040862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STRM CLD/M13371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33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2895749685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FROST GREY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30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2505166579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MARL-BC17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26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421590737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AMARANTH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24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2933059810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PINK THRILL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22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580426956"/>
                  </a:ext>
                </a:extLst>
              </a:tr>
              <a:tr h="225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SHORELIN/M12977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21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3391160526"/>
                  </a:ext>
                </a:extLst>
              </a:tr>
              <a:tr h="21339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effectLst/>
                        </a:rPr>
                        <a:t>OCEAN DEPTHS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effectLst/>
                        </a:rPr>
                        <a:t>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379857703"/>
                  </a:ext>
                </a:extLst>
              </a:tr>
              <a:tr h="2479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1619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4" marR="5464" marT="5464" marB="0" anchor="b"/>
                </a:tc>
                <a:extLst>
                  <a:ext uri="{0D108BD9-81ED-4DB2-BD59-A6C34878D82A}">
                    <a16:rowId xmlns:a16="http://schemas.microsoft.com/office/drawing/2014/main" val="2576294034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FBF6D-8D52-4F67-B5E1-DCBB9B391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EC11FC1-5B59-4E38-B6EA-93776477364C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314610170"/>
              </p:ext>
            </p:extLst>
          </p:nvPr>
        </p:nvGraphicFramePr>
        <p:xfrm>
          <a:off x="6172200" y="2082800"/>
          <a:ext cx="5183188" cy="4106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6CE230E-0284-4EC5-BC16-6233666AA6E9}"/>
              </a:ext>
            </a:extLst>
          </p:cNvPr>
          <p:cNvSpPr/>
          <p:nvPr/>
        </p:nvSpPr>
        <p:spPr>
          <a:xfrm>
            <a:off x="201930" y="77002"/>
            <a:ext cx="11675645" cy="663247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305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D48E-DE09-435E-A8B1-047E5B5A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PRINTING REPROCESS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F3A33-B152-44AD-BA02-70F43CC8D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524C54B-895F-45BE-8604-3E83BB6CF8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0799644"/>
              </p:ext>
            </p:extLst>
          </p:nvPr>
        </p:nvGraphicFramePr>
        <p:xfrm>
          <a:off x="1058779" y="3253339"/>
          <a:ext cx="4341102" cy="27817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003586">
                  <a:extLst>
                    <a:ext uri="{9D8B030D-6E8A-4147-A177-3AD203B41FA5}">
                      <a16:colId xmlns:a16="http://schemas.microsoft.com/office/drawing/2014/main" val="1884705473"/>
                    </a:ext>
                  </a:extLst>
                </a:gridCol>
                <a:gridCol w="2337516">
                  <a:extLst>
                    <a:ext uri="{9D8B030D-6E8A-4147-A177-3AD203B41FA5}">
                      <a16:colId xmlns:a16="http://schemas.microsoft.com/office/drawing/2014/main" val="3021103473"/>
                    </a:ext>
                  </a:extLst>
                </a:gridCol>
              </a:tblGrid>
              <a:tr h="66624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PRINTING FAULTS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KGS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5388356"/>
                  </a:ext>
                </a:extLst>
              </a:tr>
              <a:tr h="7051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TOUCH UP     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2582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31347016"/>
                  </a:ext>
                </a:extLst>
              </a:tr>
              <a:tr h="7051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R2R VARATION 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1008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4965378"/>
                  </a:ext>
                </a:extLst>
              </a:tr>
              <a:tr h="7051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OUT SETTING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710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5200437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8302C-30A7-462C-B074-418FFA74E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753F06-2A50-4AEB-95CA-113825A5434E}"/>
              </a:ext>
            </a:extLst>
          </p:cNvPr>
          <p:cNvSpPr/>
          <p:nvPr/>
        </p:nvSpPr>
        <p:spPr>
          <a:xfrm>
            <a:off x="199724" y="174140"/>
            <a:ext cx="11944951" cy="6569559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AC8CF12-09AF-4A77-BCA3-6BDC5B7375C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66928410"/>
              </p:ext>
            </p:extLst>
          </p:nvPr>
        </p:nvGraphicFramePr>
        <p:xfrm>
          <a:off x="6172200" y="2505074"/>
          <a:ext cx="5183188" cy="4238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5789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F9E3-1772-4E9C-B79A-7ED4844D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</a:rPr>
              <a:t>Break-down of Reprocess Due to TOUCH UP</a:t>
            </a:r>
            <a:br>
              <a:rPr lang="en-IN" sz="4400" dirty="0">
                <a:solidFill>
                  <a:srgbClr val="FF0000"/>
                </a:solidFill>
              </a:rPr>
            </a:br>
            <a:r>
              <a:rPr lang="en-IN" sz="4400" dirty="0">
                <a:solidFill>
                  <a:srgbClr val="FF0000"/>
                </a:solidFill>
              </a:rPr>
              <a:t> (According to Fabric Construction)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23C5AB3-40E6-49DC-8853-2E8BF128184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33075758"/>
              </p:ext>
            </p:extLst>
          </p:nvPr>
        </p:nvGraphicFramePr>
        <p:xfrm>
          <a:off x="762000" y="1825625"/>
          <a:ext cx="5181600" cy="435562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83345">
                  <a:extLst>
                    <a:ext uri="{9D8B030D-6E8A-4147-A177-3AD203B41FA5}">
                      <a16:colId xmlns:a16="http://schemas.microsoft.com/office/drawing/2014/main" val="871895434"/>
                    </a:ext>
                  </a:extLst>
                </a:gridCol>
                <a:gridCol w="2198255">
                  <a:extLst>
                    <a:ext uri="{9D8B030D-6E8A-4147-A177-3AD203B41FA5}">
                      <a16:colId xmlns:a16="http://schemas.microsoft.com/office/drawing/2014/main" val="52389178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FABRIC CONSTRUCTION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KGS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554863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SJ 40S/1 100% BCI COMP+40D SPN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1438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919674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u="none" strike="noStrike" dirty="0">
                          <a:effectLst/>
                        </a:rPr>
                        <a:t>SJ 40S/1 BCI CTN + 20D SPN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662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1005154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SJ 40S/1 COTTN/MODAL + 20D SPN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552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324408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SJ 40S/1 100% BCI COMP + 40D SPN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441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065975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SJ 30S/1 ORGANIC CTN + 30D LYCRA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2893313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u="none" strike="noStrike" dirty="0">
                          <a:effectLst/>
                        </a:rPr>
                        <a:t>SJ 40S/1 BCI CTN + 20D SPN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133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855904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u="none" strike="noStrike">
                          <a:effectLst/>
                        </a:rPr>
                        <a:t>SJ 40S/1 H (BCI) + 20D SPN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129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252932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u="none" strike="noStrike" dirty="0">
                          <a:effectLst/>
                        </a:rPr>
                        <a:t>SJ 40S/1 BCI CTN + 20D SPN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121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7947010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u="none" strike="noStrike">
                          <a:effectLst/>
                        </a:rPr>
                        <a:t>SJ 40S/1 CC BCI + 20D LYCRA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104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6353639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SJ 40S/1 100% BCI COMP + 40D SPN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91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9686637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SJ 40S/1 100% BCI COMP + 40D SPN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3973341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effectLst/>
                        </a:rPr>
                        <a:t>SJ 40S/1 CMIA CTN + 20D LYCRA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3996166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SJ 40S/1 CMIA CTN + 20D LYCRA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3005179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SJ 40S/1 100% BCI COMP + 40D SPN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233429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effectLst/>
                        </a:rPr>
                        <a:t>SJ 40S/1 CMIA CTN + 20D LYCRA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12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326717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u="none" strike="noStrike" dirty="0">
                          <a:effectLst/>
                        </a:rPr>
                        <a:t>SJ 40S/1 BCI CTN + 20D SPN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12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105779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u="none" strike="noStrike">
                          <a:effectLst/>
                        </a:rPr>
                        <a:t>SJ 40S/1 BCI CTN + 20D SPN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6135276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200" b="0" u="none" strike="noStrike" dirty="0">
                          <a:effectLst/>
                        </a:rPr>
                        <a:t>SJ 32S/1 FC + 30D SPN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effectLst/>
                        </a:rPr>
                        <a:t>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9306852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4300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991049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0FF21E5-4282-4E01-B0A9-88C0270FBD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9486216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978B50C-D7CB-421E-AAD3-5BAFC905C79E}"/>
              </a:ext>
            </a:extLst>
          </p:cNvPr>
          <p:cNvSpPr/>
          <p:nvPr/>
        </p:nvSpPr>
        <p:spPr>
          <a:xfrm>
            <a:off x="182880" y="154004"/>
            <a:ext cx="11877575" cy="6497053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00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A3EAF-D4C1-4F58-96ED-CB3BE702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</a:rPr>
              <a:t>Break-down</a:t>
            </a:r>
            <a:r>
              <a:rPr lang="en-IN" sz="4400" dirty="0">
                <a:solidFill>
                  <a:srgbClr val="FF0000"/>
                </a:solidFill>
              </a:rPr>
              <a:t> of Reprocess Due to Touch Up</a:t>
            </a:r>
            <a:br>
              <a:rPr lang="en-IN" sz="4400" dirty="0">
                <a:solidFill>
                  <a:srgbClr val="FF0000"/>
                </a:solidFill>
              </a:rPr>
            </a:br>
            <a:r>
              <a:rPr lang="en-IN" sz="4400" dirty="0">
                <a:solidFill>
                  <a:srgbClr val="FF0000"/>
                </a:solidFill>
              </a:rPr>
              <a:t> (According to Colour Code )</a:t>
            </a:r>
            <a:br>
              <a:rPr lang="en-IN" sz="4400" dirty="0">
                <a:solidFill>
                  <a:srgbClr val="FF0000"/>
                </a:solidFill>
              </a:rPr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D8CFD24-06B3-4196-BFB2-EBCBEBB52F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4091654"/>
              </p:ext>
            </p:extLst>
          </p:nvPr>
        </p:nvGraphicFramePr>
        <p:xfrm>
          <a:off x="1222408" y="1690688"/>
          <a:ext cx="4498942" cy="446097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57505">
                  <a:extLst>
                    <a:ext uri="{9D8B030D-6E8A-4147-A177-3AD203B41FA5}">
                      <a16:colId xmlns:a16="http://schemas.microsoft.com/office/drawing/2014/main" val="1727241453"/>
                    </a:ext>
                  </a:extLst>
                </a:gridCol>
                <a:gridCol w="2841437">
                  <a:extLst>
                    <a:ext uri="{9D8B030D-6E8A-4147-A177-3AD203B41FA5}">
                      <a16:colId xmlns:a16="http://schemas.microsoft.com/office/drawing/2014/main" val="3882428742"/>
                    </a:ext>
                  </a:extLst>
                </a:gridCol>
              </a:tblGrid>
              <a:tr h="2560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COLOUR CODE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KGS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1317607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OPTC WHT/Z0745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1438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5417527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CLSIC WHT/Z0631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662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7926097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OPTC WHIT/Z0745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552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88412061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SKY CPTN/M14944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441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7796385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DRK DENM/M14945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400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7084958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PSTL BLU/M14296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133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34804968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CLSIC WHT/Z0631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129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458242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NAVY/M13181  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121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32536386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OPTC WHIT/Z0745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104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36313788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DRK DENM/M14945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91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05632851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CLSC WHT/Z0631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90799171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PURE BLK/M14986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47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07585337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WNTR WNE/M14745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45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6350972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DSRT FLW/M15083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44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3873887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MARL-B10     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6810879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LVNDR LV/M14975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72083063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SHORELIN/M12977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82740776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u="none" strike="noStrike" dirty="0">
                          <a:effectLst/>
                        </a:rPr>
                        <a:t>BLACK/M15202 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u="none" strike="noStrike" dirty="0">
                          <a:effectLst/>
                        </a:rPr>
                        <a:t>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1185533"/>
                  </a:ext>
                </a:extLst>
              </a:tr>
              <a:tr h="2062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4300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411942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3C49FC-0BB5-4872-894C-5B7869661B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0511732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422D9C6-917B-45BD-8EB6-86618A3C0F8F}"/>
              </a:ext>
            </a:extLst>
          </p:cNvPr>
          <p:cNvSpPr/>
          <p:nvPr/>
        </p:nvSpPr>
        <p:spPr>
          <a:xfrm>
            <a:off x="142775" y="151598"/>
            <a:ext cx="11906449" cy="6554804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45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3E05-E1AE-4535-A8B5-D357AFE1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WISE FABRIC REPROCESS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(FOR MONTH OF APRIL )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719A10-0E9F-48C2-9C93-832613C8A2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15037089"/>
              </p:ext>
            </p:extLst>
          </p:nvPr>
        </p:nvGraphicFramePr>
        <p:xfrm>
          <a:off x="1151905" y="3336966"/>
          <a:ext cx="4440383" cy="205390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020624">
                  <a:extLst>
                    <a:ext uri="{9D8B030D-6E8A-4147-A177-3AD203B41FA5}">
                      <a16:colId xmlns:a16="http://schemas.microsoft.com/office/drawing/2014/main" val="3860154219"/>
                    </a:ext>
                  </a:extLst>
                </a:gridCol>
                <a:gridCol w="1072677">
                  <a:extLst>
                    <a:ext uri="{9D8B030D-6E8A-4147-A177-3AD203B41FA5}">
                      <a16:colId xmlns:a16="http://schemas.microsoft.com/office/drawing/2014/main" val="938164243"/>
                    </a:ext>
                  </a:extLst>
                </a:gridCol>
                <a:gridCol w="1347082">
                  <a:extLst>
                    <a:ext uri="{9D8B030D-6E8A-4147-A177-3AD203B41FA5}">
                      <a16:colId xmlns:a16="http://schemas.microsoft.com/office/drawing/2014/main" val="1151767812"/>
                    </a:ext>
                  </a:extLst>
                </a:gridCol>
              </a:tblGrid>
              <a:tr h="5134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DEPARTMENT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 KGS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MTRS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8655102"/>
                  </a:ext>
                </a:extLst>
              </a:tr>
              <a:tr h="5134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Dyeing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31252.9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140388.88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5054317"/>
                  </a:ext>
                </a:extLst>
              </a:tr>
              <a:tr h="5134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FINISHING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208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667.85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0309143"/>
                  </a:ext>
                </a:extLst>
              </a:tr>
              <a:tr h="5134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Grand Total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31460.9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141056.73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85196696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D5E541-0201-4BCB-8647-2D4719451D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0840328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0876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7708-2E86-42E3-A692-84A42E5CA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DYEING REPROCESS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(APRIL MONTH)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660A28-C7E4-4388-BCCC-8DFBE60D956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44646560"/>
              </p:ext>
            </p:extLst>
          </p:nvPr>
        </p:nvGraphicFramePr>
        <p:xfrm>
          <a:off x="1116281" y="3040083"/>
          <a:ext cx="4465121" cy="302820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67886">
                  <a:extLst>
                    <a:ext uri="{9D8B030D-6E8A-4147-A177-3AD203B41FA5}">
                      <a16:colId xmlns:a16="http://schemas.microsoft.com/office/drawing/2014/main" val="309610681"/>
                    </a:ext>
                  </a:extLst>
                </a:gridCol>
                <a:gridCol w="1397235">
                  <a:extLst>
                    <a:ext uri="{9D8B030D-6E8A-4147-A177-3AD203B41FA5}">
                      <a16:colId xmlns:a16="http://schemas.microsoft.com/office/drawing/2014/main" val="3595552790"/>
                    </a:ext>
                  </a:extLst>
                </a:gridCol>
              </a:tblGrid>
              <a:tr h="757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DEPARTMENT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</a:rPr>
                        <a:t>KGS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63056842"/>
                  </a:ext>
                </a:extLst>
              </a:tr>
              <a:tr h="757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AF COLOUR REJECT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12525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4377500"/>
                  </a:ext>
                </a:extLst>
              </a:tr>
              <a:tr h="757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R2R VARIATION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6374.9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8995357"/>
                  </a:ext>
                </a:extLst>
              </a:tr>
              <a:tr h="757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ABRASION MARK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5785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7358021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5B7B69-AF42-47F2-A4CB-5AEDB7C76B0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3478304"/>
              </p:ext>
            </p:extLst>
          </p:nvPr>
        </p:nvGraphicFramePr>
        <p:xfrm>
          <a:off x="6172200" y="2141537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80464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C57E-51BB-48A0-9AD0-5CEF0652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</a:rPr>
              <a:t>Break-down of Reprocess Due to After colour rejection</a:t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4000" dirty="0">
                <a:solidFill>
                  <a:srgbClr val="FF0000"/>
                </a:solidFill>
              </a:rPr>
              <a:t> (According to Fabric Construction April’22</a:t>
            </a:r>
            <a:r>
              <a:rPr lang="en-IN" sz="4400" dirty="0">
                <a:solidFill>
                  <a:srgbClr val="FF0000"/>
                </a:solidFill>
              </a:rPr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BAA4F-0383-49DC-A7B6-67A9FD3DD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804B6-3004-4376-A36C-DBE4B38484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183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652</TotalTime>
  <Words>1524</Words>
  <Application>Microsoft Office PowerPoint</Application>
  <PresentationFormat>Widescreen</PresentationFormat>
  <Paragraphs>464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Office Theme</vt:lpstr>
      <vt:lpstr>REPROCESS</vt:lpstr>
      <vt:lpstr>DEPARTMENT WISE FABRIC REPROCESS (FOR MONTH OF MARCH)</vt:lpstr>
      <vt:lpstr>DYEING REPROCESS</vt:lpstr>
      <vt:lpstr>Break-down of Reprocess Due to After Colour Rejection  (According to Fabric Construction ) </vt:lpstr>
      <vt:lpstr>Break-down of Reprocess due to After Colour Rejection (According to Colour code)</vt:lpstr>
      <vt:lpstr>Knitting Reprocess </vt:lpstr>
      <vt:lpstr>Break-down of Reprocess Due to Oil Line  (According to Fabric Construction ) </vt:lpstr>
      <vt:lpstr>Break-down of Reprocess Due to Oil Line  (According to Colour Code ) </vt:lpstr>
      <vt:lpstr>FINISHING REPROCESS</vt:lpstr>
      <vt:lpstr>Break-down of Reprocess Due to NARROW WIDTH  (According to Fabric Construction ) </vt:lpstr>
      <vt:lpstr>Break-down of Reprocess Due to Narrow width  (According to Colour Code ) </vt:lpstr>
      <vt:lpstr>PRINTING REPROCESS</vt:lpstr>
      <vt:lpstr>Break-down of Reprocess Due to TOUCH UP  (According to Fabric Construction)</vt:lpstr>
      <vt:lpstr>Break-down of Reprocess Due to Touch Up  (According to Colour Code ) </vt:lpstr>
      <vt:lpstr>DEPARTMENT WISE FABRIC REPROCESS (FOR MONTH OF APRIL )</vt:lpstr>
      <vt:lpstr>DYEING REPROCESS (APRIL MONTH)</vt:lpstr>
      <vt:lpstr>Break-down of Reprocess Due to After colour rejection  (According to Fabric Construction April’22)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REPROCESS</dc:title>
  <dc:creator>Sanket Sahu</dc:creator>
  <cp:lastModifiedBy>Sanket Sahu</cp:lastModifiedBy>
  <cp:revision>25</cp:revision>
  <dcterms:created xsi:type="dcterms:W3CDTF">2022-04-21T10:26:39Z</dcterms:created>
  <dcterms:modified xsi:type="dcterms:W3CDTF">2022-04-30T03:44:40Z</dcterms:modified>
</cp:coreProperties>
</file>